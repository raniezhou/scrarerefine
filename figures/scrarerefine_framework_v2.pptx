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344400" cy="72009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28600"/>
            <a:ext cx="11795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C3E50"/>
                </a:solidFill>
                <a:latin typeface="Calibri"/>
              </a:rPr>
              <a:t>scRareRefine — framework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39496"/>
            <a:ext cx="1179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Three-phase pipeline: data representation  →  rare-cell reference and candidate selection  →  controlled rescue and final prediction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731519"/>
            <a:ext cx="3913632" cy="6053327"/>
          </a:xfrm>
          <a:prstGeom prst="rect">
            <a:avLst/>
          </a:prstGeom>
          <a:noFill/>
          <a:ln w="9525">
            <a:solidFill>
              <a:srgbClr val="9AA0A6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C3E50"/>
                </a:solidFill>
                <a:latin typeface="Calibri"/>
              </a:rP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749808"/>
            <a:ext cx="3182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Data representation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215384" y="731519"/>
            <a:ext cx="3913632" cy="6053327"/>
          </a:xfrm>
          <a:prstGeom prst="rect">
            <a:avLst/>
          </a:prstGeom>
          <a:noFill/>
          <a:ln w="9525">
            <a:solidFill>
              <a:srgbClr val="9AA0A6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06824" y="74980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C3E50"/>
                </a:solidFill>
                <a:latin typeface="Calibri"/>
              </a:rPr>
              <a:t>PHASE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01184" y="749808"/>
            <a:ext cx="3182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Rare-cell reference and candidate selection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02168" y="731519"/>
            <a:ext cx="3913632" cy="6053327"/>
          </a:xfrm>
          <a:prstGeom prst="rect">
            <a:avLst/>
          </a:prstGeom>
          <a:noFill/>
          <a:ln w="9525">
            <a:solidFill>
              <a:srgbClr val="9AA0A6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3608" y="74980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C3E50"/>
                </a:solidFill>
                <a:latin typeface="Calibri"/>
              </a:rPr>
              <a:t>PHASE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749808"/>
            <a:ext cx="3182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Controlled rescue and final prediction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115568"/>
            <a:ext cx="3822192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161288"/>
            <a:ext cx="36393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C3E50"/>
                </a:solidFill>
                <a:latin typeface="Calibri"/>
              </a:rPr>
              <a:t>A · Input scRNA-seq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1362456"/>
            <a:ext cx="3639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Calibri"/>
              </a:rPr>
              <a:t>expression matrix (genes × cells)  +  sparsely labelled cells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1618488"/>
            <a:ext cx="130683" cy="177165"/>
          </a:xfrm>
          <a:prstGeom prst="rect">
            <a:avLst/>
          </a:prstGeom>
          <a:solidFill>
            <a:srgbClr val="4A6FA5">
              <a:alpha val="3628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7923" y="1618488"/>
            <a:ext cx="130683" cy="177165"/>
          </a:xfrm>
          <a:prstGeom prst="rect">
            <a:avLst/>
          </a:prstGeom>
          <a:solidFill>
            <a:srgbClr val="4A6FA5">
              <a:alpha val="2331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38606" y="1618488"/>
            <a:ext cx="130683" cy="177165"/>
          </a:xfrm>
          <a:prstGeom prst="rect">
            <a:avLst/>
          </a:prstGeom>
          <a:solidFill>
            <a:srgbClr val="4A6FA5">
              <a:alpha val="6082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69289" y="1618488"/>
            <a:ext cx="130683" cy="177165"/>
          </a:xfrm>
          <a:prstGeom prst="rect">
            <a:avLst/>
          </a:prstGeom>
          <a:solidFill>
            <a:srgbClr val="4A6FA5">
              <a:alpha val="1743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99972" y="1618488"/>
            <a:ext cx="130683" cy="177165"/>
          </a:xfrm>
          <a:prstGeom prst="rect">
            <a:avLst/>
          </a:prstGeom>
          <a:solidFill>
            <a:srgbClr val="4A6FA5">
              <a:alpha val="5219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430655" y="1618488"/>
            <a:ext cx="130683" cy="177165"/>
          </a:xfrm>
          <a:prstGeom prst="rect">
            <a:avLst/>
          </a:prstGeom>
          <a:solidFill>
            <a:srgbClr val="4A6FA5">
              <a:alpha val="3942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561338" y="1618488"/>
            <a:ext cx="130683" cy="177165"/>
          </a:xfrm>
          <a:prstGeom prst="rect">
            <a:avLst/>
          </a:prstGeom>
          <a:solidFill>
            <a:srgbClr val="4A6FA5">
              <a:alpha val="1634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692021" y="1618488"/>
            <a:ext cx="130683" cy="177165"/>
          </a:xfrm>
          <a:prstGeom prst="rect">
            <a:avLst/>
          </a:prstGeom>
          <a:solidFill>
            <a:srgbClr val="4A6FA5">
              <a:alpha val="5005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822704" y="1618488"/>
            <a:ext cx="130683" cy="177165"/>
          </a:xfrm>
          <a:prstGeom prst="rect">
            <a:avLst/>
          </a:prstGeom>
          <a:solidFill>
            <a:srgbClr val="4A6FA5">
              <a:alpha val="1481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953387" y="1618488"/>
            <a:ext cx="130683" cy="177165"/>
          </a:xfrm>
          <a:prstGeom prst="rect">
            <a:avLst/>
          </a:prstGeom>
          <a:solidFill>
            <a:srgbClr val="4A6FA5">
              <a:alpha val="4452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84070" y="1618488"/>
            <a:ext cx="130683" cy="177165"/>
          </a:xfrm>
          <a:prstGeom prst="rect">
            <a:avLst/>
          </a:prstGeom>
          <a:solidFill>
            <a:srgbClr val="4A6FA5">
              <a:alpha val="1723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14753" y="1618488"/>
            <a:ext cx="130683" cy="177165"/>
          </a:xfrm>
          <a:prstGeom prst="rect">
            <a:avLst/>
          </a:prstGeom>
          <a:solidFill>
            <a:srgbClr val="4A6FA5">
              <a:alpha val="1880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345436" y="1618488"/>
            <a:ext cx="130683" cy="177165"/>
          </a:xfrm>
          <a:prstGeom prst="rect">
            <a:avLst/>
          </a:prstGeom>
          <a:solidFill>
            <a:srgbClr val="4A6FA5">
              <a:alpha val="4383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476119" y="1618488"/>
            <a:ext cx="130683" cy="177165"/>
          </a:xfrm>
          <a:prstGeom prst="rect">
            <a:avLst/>
          </a:prstGeom>
          <a:solidFill>
            <a:srgbClr val="4A6FA5">
              <a:alpha val="7401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606802" y="1618488"/>
            <a:ext cx="130683" cy="177165"/>
          </a:xfrm>
          <a:prstGeom prst="rect">
            <a:avLst/>
          </a:prstGeom>
          <a:solidFill>
            <a:srgbClr val="4A6FA5">
              <a:alpha val="2128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37485" y="1618488"/>
            <a:ext cx="130683" cy="177165"/>
          </a:xfrm>
          <a:prstGeom prst="rect">
            <a:avLst/>
          </a:prstGeom>
          <a:solidFill>
            <a:srgbClr val="4A6FA5">
              <a:alpha val="2874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868168" y="1618488"/>
            <a:ext cx="130683" cy="177165"/>
          </a:xfrm>
          <a:prstGeom prst="rect">
            <a:avLst/>
          </a:prstGeom>
          <a:solidFill>
            <a:srgbClr val="4A6FA5">
              <a:alpha val="5905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998851" y="1618488"/>
            <a:ext cx="130683" cy="177165"/>
          </a:xfrm>
          <a:prstGeom prst="rect">
            <a:avLst/>
          </a:prstGeom>
          <a:solidFill>
            <a:srgbClr val="4A6FA5">
              <a:alpha val="8307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29534" y="1618488"/>
            <a:ext cx="130683" cy="177165"/>
          </a:xfrm>
          <a:prstGeom prst="rect">
            <a:avLst/>
          </a:prstGeom>
          <a:solidFill>
            <a:srgbClr val="4A6FA5">
              <a:alpha val="5528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60217" y="1618488"/>
            <a:ext cx="130683" cy="177165"/>
          </a:xfrm>
          <a:prstGeom prst="rect">
            <a:avLst/>
          </a:prstGeom>
          <a:solidFill>
            <a:srgbClr val="4A6FA5">
              <a:alpha val="4175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390900" y="1618488"/>
            <a:ext cx="130683" cy="177165"/>
          </a:xfrm>
          <a:prstGeom prst="rect">
            <a:avLst/>
          </a:prstGeom>
          <a:solidFill>
            <a:srgbClr val="4A6FA5">
              <a:alpha val="8521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521583" y="1618488"/>
            <a:ext cx="130683" cy="177165"/>
          </a:xfrm>
          <a:prstGeom prst="rect">
            <a:avLst/>
          </a:prstGeom>
          <a:solidFill>
            <a:srgbClr val="4A6FA5">
              <a:alpha val="1549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2266" y="1618488"/>
            <a:ext cx="130683" cy="177165"/>
          </a:xfrm>
          <a:prstGeom prst="rect">
            <a:avLst/>
          </a:prstGeom>
          <a:solidFill>
            <a:srgbClr val="4A6FA5">
              <a:alpha val="7638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782949" y="1618488"/>
            <a:ext cx="130683" cy="177165"/>
          </a:xfrm>
          <a:prstGeom prst="rect">
            <a:avLst/>
          </a:prstGeom>
          <a:solidFill>
            <a:srgbClr val="4A6FA5">
              <a:alpha val="3372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" y="1795653"/>
            <a:ext cx="130683" cy="177165"/>
          </a:xfrm>
          <a:prstGeom prst="rect">
            <a:avLst/>
          </a:prstGeom>
          <a:solidFill>
            <a:srgbClr val="4A6FA5">
              <a:alpha val="2281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7923" y="1795653"/>
            <a:ext cx="130683" cy="177165"/>
          </a:xfrm>
          <a:prstGeom prst="rect">
            <a:avLst/>
          </a:prstGeom>
          <a:solidFill>
            <a:srgbClr val="4A6FA5">
              <a:alpha val="2083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38606" y="1795653"/>
            <a:ext cx="130683" cy="177165"/>
          </a:xfrm>
          <a:prstGeom prst="rect">
            <a:avLst/>
          </a:prstGeom>
          <a:solidFill>
            <a:srgbClr val="4A6FA5">
              <a:alpha val="3513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69289" y="1795653"/>
            <a:ext cx="130683" cy="177165"/>
          </a:xfrm>
          <a:prstGeom prst="rect">
            <a:avLst/>
          </a:prstGeom>
          <a:solidFill>
            <a:srgbClr val="4A6FA5">
              <a:alpha val="7320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299972" y="1795653"/>
            <a:ext cx="130683" cy="177165"/>
          </a:xfrm>
          <a:prstGeom prst="rect">
            <a:avLst/>
          </a:prstGeom>
          <a:solidFill>
            <a:srgbClr val="4A6FA5">
              <a:alpha val="2555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430655" y="1795653"/>
            <a:ext cx="130683" cy="177165"/>
          </a:xfrm>
          <a:prstGeom prst="rect">
            <a:avLst/>
          </a:prstGeom>
          <a:solidFill>
            <a:srgbClr val="4A6FA5">
              <a:alpha val="5562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561338" y="1795653"/>
            <a:ext cx="130683" cy="177165"/>
          </a:xfrm>
          <a:prstGeom prst="rect">
            <a:avLst/>
          </a:prstGeom>
          <a:solidFill>
            <a:srgbClr val="4A6FA5">
              <a:alpha val="5991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692021" y="1795653"/>
            <a:ext cx="130683" cy="177165"/>
          </a:xfrm>
          <a:prstGeom prst="rect">
            <a:avLst/>
          </a:prstGeom>
          <a:solidFill>
            <a:srgbClr val="4A6FA5">
              <a:alpha val="3992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822704" y="1795653"/>
            <a:ext cx="130683" cy="177165"/>
          </a:xfrm>
          <a:prstGeom prst="rect">
            <a:avLst/>
          </a:prstGeom>
          <a:solidFill>
            <a:srgbClr val="4A6FA5">
              <a:alpha val="5308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953387" y="1795653"/>
            <a:ext cx="130683" cy="177165"/>
          </a:xfrm>
          <a:prstGeom prst="rect">
            <a:avLst/>
          </a:prstGeom>
          <a:solidFill>
            <a:srgbClr val="4A6FA5">
              <a:alpha val="1670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084070" y="1795653"/>
            <a:ext cx="130683" cy="177165"/>
          </a:xfrm>
          <a:prstGeom prst="rect">
            <a:avLst/>
          </a:prstGeom>
          <a:solidFill>
            <a:srgbClr val="4A6FA5">
              <a:alpha val="1647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214753" y="1795653"/>
            <a:ext cx="130683" cy="177165"/>
          </a:xfrm>
          <a:prstGeom prst="rect">
            <a:avLst/>
          </a:prstGeom>
          <a:solidFill>
            <a:srgbClr val="4A6FA5">
              <a:alpha val="2744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345436" y="1795653"/>
            <a:ext cx="130683" cy="177165"/>
          </a:xfrm>
          <a:prstGeom prst="rect">
            <a:avLst/>
          </a:prstGeom>
          <a:solidFill>
            <a:srgbClr val="4A6FA5">
              <a:alpha val="6302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476119" y="1795653"/>
            <a:ext cx="130683" cy="177165"/>
          </a:xfrm>
          <a:prstGeom prst="rect">
            <a:avLst/>
          </a:prstGeom>
          <a:solidFill>
            <a:srgbClr val="4A6FA5">
              <a:alpha val="4406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606802" y="1795653"/>
            <a:ext cx="130683" cy="177165"/>
          </a:xfrm>
          <a:prstGeom prst="rect">
            <a:avLst/>
          </a:prstGeom>
          <a:solidFill>
            <a:srgbClr val="4A6FA5">
              <a:alpha val="3556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737485" y="1795653"/>
            <a:ext cx="130683" cy="177165"/>
          </a:xfrm>
          <a:prstGeom prst="rect">
            <a:avLst/>
          </a:prstGeom>
          <a:solidFill>
            <a:srgbClr val="4A6FA5">
              <a:alpha val="5591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868168" y="1795653"/>
            <a:ext cx="130683" cy="177165"/>
          </a:xfrm>
          <a:prstGeom prst="rect">
            <a:avLst/>
          </a:prstGeom>
          <a:solidFill>
            <a:srgbClr val="4A6FA5">
              <a:alpha val="4598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998851" y="1795653"/>
            <a:ext cx="130683" cy="177165"/>
          </a:xfrm>
          <a:prstGeom prst="rect">
            <a:avLst/>
          </a:prstGeom>
          <a:solidFill>
            <a:srgbClr val="4A6FA5">
              <a:alpha val="3448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129534" y="1795653"/>
            <a:ext cx="130683" cy="177165"/>
          </a:xfrm>
          <a:prstGeom prst="rect">
            <a:avLst/>
          </a:prstGeom>
          <a:solidFill>
            <a:srgbClr val="4A6FA5">
              <a:alpha val="7157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260217" y="1795653"/>
            <a:ext cx="130683" cy="177165"/>
          </a:xfrm>
          <a:prstGeom prst="rect">
            <a:avLst/>
          </a:prstGeom>
          <a:solidFill>
            <a:srgbClr val="4A6FA5">
              <a:alpha val="644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390900" y="1795653"/>
            <a:ext cx="130683" cy="177165"/>
          </a:xfrm>
          <a:prstGeom prst="rect">
            <a:avLst/>
          </a:prstGeom>
          <a:solidFill>
            <a:srgbClr val="4A6FA5">
              <a:alpha val="3030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521583" y="1795653"/>
            <a:ext cx="130683" cy="177165"/>
          </a:xfrm>
          <a:prstGeom prst="rect">
            <a:avLst/>
          </a:prstGeom>
          <a:solidFill>
            <a:srgbClr val="4A6FA5">
              <a:alpha val="5508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652266" y="1795653"/>
            <a:ext cx="130683" cy="177165"/>
          </a:xfrm>
          <a:prstGeom prst="rect">
            <a:avLst/>
          </a:prstGeom>
          <a:solidFill>
            <a:srgbClr val="4A6FA5">
              <a:alpha val="5138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782949" y="1795653"/>
            <a:ext cx="130683" cy="177165"/>
          </a:xfrm>
          <a:prstGeom prst="rect">
            <a:avLst/>
          </a:prstGeom>
          <a:solidFill>
            <a:srgbClr val="4A6FA5">
              <a:alpha val="7763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77240" y="1972818"/>
            <a:ext cx="130683" cy="177165"/>
          </a:xfrm>
          <a:prstGeom prst="rect">
            <a:avLst/>
          </a:prstGeom>
          <a:solidFill>
            <a:srgbClr val="4A6FA5">
              <a:alpha val="6670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07923" y="1972818"/>
            <a:ext cx="130683" cy="177165"/>
          </a:xfrm>
          <a:prstGeom prst="rect">
            <a:avLst/>
          </a:prstGeom>
          <a:solidFill>
            <a:srgbClr val="4A6FA5">
              <a:alpha val="3359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38606" y="1972818"/>
            <a:ext cx="130683" cy="177165"/>
          </a:xfrm>
          <a:prstGeom prst="rect">
            <a:avLst/>
          </a:prstGeom>
          <a:solidFill>
            <a:srgbClr val="4A6FA5">
              <a:alpha val="8551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169289" y="1972818"/>
            <a:ext cx="130683" cy="177165"/>
          </a:xfrm>
          <a:prstGeom prst="rect">
            <a:avLst/>
          </a:prstGeom>
          <a:solidFill>
            <a:srgbClr val="4A6FA5">
              <a:alpha val="2085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299972" y="1972818"/>
            <a:ext cx="130683" cy="177165"/>
          </a:xfrm>
          <a:prstGeom prst="rect">
            <a:avLst/>
          </a:prstGeom>
          <a:solidFill>
            <a:srgbClr val="4A6FA5">
              <a:alpha val="4335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430655" y="1972818"/>
            <a:ext cx="130683" cy="177165"/>
          </a:xfrm>
          <a:prstGeom prst="rect">
            <a:avLst/>
          </a:prstGeom>
          <a:solidFill>
            <a:srgbClr val="4A6FA5">
              <a:alpha val="6878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561338" y="1972818"/>
            <a:ext cx="130683" cy="177165"/>
          </a:xfrm>
          <a:prstGeom prst="rect">
            <a:avLst/>
          </a:prstGeom>
          <a:solidFill>
            <a:srgbClr val="4A6FA5">
              <a:alpha val="2339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692021" y="1972818"/>
            <a:ext cx="130683" cy="177165"/>
          </a:xfrm>
          <a:prstGeom prst="rect">
            <a:avLst/>
          </a:prstGeom>
          <a:solidFill>
            <a:srgbClr val="4A6FA5">
              <a:alpha val="4867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822704" y="1972818"/>
            <a:ext cx="130683" cy="177165"/>
          </a:xfrm>
          <a:prstGeom prst="rect">
            <a:avLst/>
          </a:prstGeom>
          <a:solidFill>
            <a:srgbClr val="4A6FA5">
              <a:alpha val="149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953387" y="1972818"/>
            <a:ext cx="130683" cy="177165"/>
          </a:xfrm>
          <a:prstGeom prst="rect">
            <a:avLst/>
          </a:prstGeom>
          <a:solidFill>
            <a:srgbClr val="4A6FA5">
              <a:alpha val="6211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084070" y="1972818"/>
            <a:ext cx="130683" cy="177165"/>
          </a:xfrm>
          <a:prstGeom prst="rect">
            <a:avLst/>
          </a:prstGeom>
          <a:solidFill>
            <a:srgbClr val="4A6FA5">
              <a:alpha val="6934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214753" y="1972818"/>
            <a:ext cx="130683" cy="177165"/>
          </a:xfrm>
          <a:prstGeom prst="rect">
            <a:avLst/>
          </a:prstGeom>
          <a:solidFill>
            <a:srgbClr val="4A6FA5">
              <a:alpha val="5497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345436" y="1972818"/>
            <a:ext cx="130683" cy="177165"/>
          </a:xfrm>
          <a:prstGeom prst="rect">
            <a:avLst/>
          </a:prstGeom>
          <a:solidFill>
            <a:srgbClr val="4A6FA5">
              <a:alpha val="7766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476119" y="1972818"/>
            <a:ext cx="130683" cy="177165"/>
          </a:xfrm>
          <a:prstGeom prst="rect">
            <a:avLst/>
          </a:prstGeom>
          <a:solidFill>
            <a:srgbClr val="4A6FA5">
              <a:alpha val="3553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606802" y="1972818"/>
            <a:ext cx="130683" cy="177165"/>
          </a:xfrm>
          <a:prstGeom prst="rect">
            <a:avLst/>
          </a:prstGeom>
          <a:solidFill>
            <a:srgbClr val="4A6FA5">
              <a:alpha val="6414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737485" y="1972818"/>
            <a:ext cx="130683" cy="177165"/>
          </a:xfrm>
          <a:prstGeom prst="rect">
            <a:avLst/>
          </a:prstGeom>
          <a:solidFill>
            <a:srgbClr val="4A6FA5">
              <a:alpha val="5657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868168" y="1972818"/>
            <a:ext cx="130683" cy="177165"/>
          </a:xfrm>
          <a:prstGeom prst="rect">
            <a:avLst/>
          </a:prstGeom>
          <a:solidFill>
            <a:srgbClr val="4A6FA5">
              <a:alpha val="5549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998851" y="1972818"/>
            <a:ext cx="130683" cy="177165"/>
          </a:xfrm>
          <a:prstGeom prst="rect">
            <a:avLst/>
          </a:prstGeom>
          <a:solidFill>
            <a:srgbClr val="4A6FA5">
              <a:alpha val="4621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129534" y="1972818"/>
            <a:ext cx="130683" cy="177165"/>
          </a:xfrm>
          <a:prstGeom prst="rect">
            <a:avLst/>
          </a:prstGeom>
          <a:solidFill>
            <a:srgbClr val="4A6FA5">
              <a:alpha val="7499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260217" y="1972818"/>
            <a:ext cx="130683" cy="177165"/>
          </a:xfrm>
          <a:prstGeom prst="rect">
            <a:avLst/>
          </a:prstGeom>
          <a:solidFill>
            <a:srgbClr val="4A6FA5">
              <a:alpha val="8285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390900" y="1972818"/>
            <a:ext cx="130683" cy="177165"/>
          </a:xfrm>
          <a:prstGeom prst="rect">
            <a:avLst/>
          </a:prstGeom>
          <a:solidFill>
            <a:srgbClr val="4A6FA5">
              <a:alpha val="4755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521583" y="1972818"/>
            <a:ext cx="130683" cy="177165"/>
          </a:xfrm>
          <a:prstGeom prst="rect">
            <a:avLst/>
          </a:prstGeom>
          <a:solidFill>
            <a:srgbClr val="4A6FA5">
              <a:alpha val="6181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652266" y="1972818"/>
            <a:ext cx="130683" cy="177165"/>
          </a:xfrm>
          <a:prstGeom prst="rect">
            <a:avLst/>
          </a:prstGeom>
          <a:solidFill>
            <a:srgbClr val="4A6FA5">
              <a:alpha val="1655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782949" y="1972818"/>
            <a:ext cx="130683" cy="177165"/>
          </a:xfrm>
          <a:prstGeom prst="rect">
            <a:avLst/>
          </a:prstGeom>
          <a:solidFill>
            <a:srgbClr val="4A6FA5">
              <a:alpha val="6461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7240" y="2149983"/>
            <a:ext cx="130683" cy="177165"/>
          </a:xfrm>
          <a:prstGeom prst="rect">
            <a:avLst/>
          </a:prstGeom>
          <a:solidFill>
            <a:srgbClr val="4A6FA5">
              <a:alpha val="6053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07923" y="2149983"/>
            <a:ext cx="130683" cy="177165"/>
          </a:xfrm>
          <a:prstGeom prst="rect">
            <a:avLst/>
          </a:prstGeom>
          <a:solidFill>
            <a:srgbClr val="4A6FA5">
              <a:alpha val="8648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38606" y="2149983"/>
            <a:ext cx="130683" cy="177165"/>
          </a:xfrm>
          <a:prstGeom prst="rect">
            <a:avLst/>
          </a:prstGeom>
          <a:solidFill>
            <a:srgbClr val="4A6FA5">
              <a:alpha val="7364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169289" y="2149983"/>
            <a:ext cx="130683" cy="177165"/>
          </a:xfrm>
          <a:prstGeom prst="rect">
            <a:avLst/>
          </a:prstGeom>
          <a:solidFill>
            <a:srgbClr val="4A6FA5">
              <a:alpha val="3334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99972" y="2149983"/>
            <a:ext cx="130683" cy="177165"/>
          </a:xfrm>
          <a:prstGeom prst="rect">
            <a:avLst/>
          </a:prstGeom>
          <a:solidFill>
            <a:srgbClr val="4A6FA5">
              <a:alpha val="4093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30655" y="2149983"/>
            <a:ext cx="130683" cy="177165"/>
          </a:xfrm>
          <a:prstGeom prst="rect">
            <a:avLst/>
          </a:prstGeom>
          <a:solidFill>
            <a:srgbClr val="4A6FA5">
              <a:alpha val="6214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61338" y="2149983"/>
            <a:ext cx="130683" cy="177165"/>
          </a:xfrm>
          <a:prstGeom prst="rect">
            <a:avLst/>
          </a:prstGeom>
          <a:solidFill>
            <a:srgbClr val="4A6FA5">
              <a:alpha val="1369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692021" y="2149983"/>
            <a:ext cx="130683" cy="177165"/>
          </a:xfrm>
          <a:prstGeom prst="rect">
            <a:avLst/>
          </a:prstGeom>
          <a:solidFill>
            <a:srgbClr val="4A6FA5">
              <a:alpha val="4662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822704" y="2149983"/>
            <a:ext cx="130683" cy="177165"/>
          </a:xfrm>
          <a:prstGeom prst="rect">
            <a:avLst/>
          </a:prstGeom>
          <a:solidFill>
            <a:srgbClr val="4A6FA5">
              <a:alpha val="2460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953387" y="2149983"/>
            <a:ext cx="130683" cy="177165"/>
          </a:xfrm>
          <a:prstGeom prst="rect">
            <a:avLst/>
          </a:prstGeom>
          <a:solidFill>
            <a:srgbClr val="4A6FA5">
              <a:alpha val="2078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2084070" y="2149983"/>
            <a:ext cx="130683" cy="177165"/>
          </a:xfrm>
          <a:prstGeom prst="rect">
            <a:avLst/>
          </a:prstGeom>
          <a:solidFill>
            <a:srgbClr val="4A6FA5">
              <a:alpha val="1642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2214753" y="2149983"/>
            <a:ext cx="130683" cy="177165"/>
          </a:xfrm>
          <a:prstGeom prst="rect">
            <a:avLst/>
          </a:prstGeom>
          <a:solidFill>
            <a:srgbClr val="4A6FA5">
              <a:alpha val="6961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2345436" y="2149983"/>
            <a:ext cx="130683" cy="177165"/>
          </a:xfrm>
          <a:prstGeom prst="rect">
            <a:avLst/>
          </a:prstGeom>
          <a:solidFill>
            <a:srgbClr val="4A6FA5">
              <a:alpha val="217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2476119" y="2149983"/>
            <a:ext cx="130683" cy="177165"/>
          </a:xfrm>
          <a:prstGeom prst="rect">
            <a:avLst/>
          </a:prstGeom>
          <a:solidFill>
            <a:srgbClr val="4A6FA5">
              <a:alpha val="3057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2606802" y="2149983"/>
            <a:ext cx="130683" cy="177165"/>
          </a:xfrm>
          <a:prstGeom prst="rect">
            <a:avLst/>
          </a:prstGeom>
          <a:solidFill>
            <a:srgbClr val="4A6FA5">
              <a:alpha val="4132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2737485" y="2149983"/>
            <a:ext cx="130683" cy="177165"/>
          </a:xfrm>
          <a:prstGeom prst="rect">
            <a:avLst/>
          </a:prstGeom>
          <a:solidFill>
            <a:srgbClr val="4A6FA5">
              <a:alpha val="7735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2868168" y="2149983"/>
            <a:ext cx="130683" cy="177165"/>
          </a:xfrm>
          <a:prstGeom prst="rect">
            <a:avLst/>
          </a:prstGeom>
          <a:solidFill>
            <a:srgbClr val="4A6FA5">
              <a:alpha val="1804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2998851" y="2149983"/>
            <a:ext cx="130683" cy="177165"/>
          </a:xfrm>
          <a:prstGeom prst="rect">
            <a:avLst/>
          </a:prstGeom>
          <a:solidFill>
            <a:srgbClr val="4A6FA5">
              <a:alpha val="4568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3129534" y="2149983"/>
            <a:ext cx="130683" cy="177165"/>
          </a:xfrm>
          <a:prstGeom prst="rect">
            <a:avLst/>
          </a:prstGeom>
          <a:solidFill>
            <a:srgbClr val="4A6FA5">
              <a:alpha val="5320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3260217" y="2149983"/>
            <a:ext cx="130683" cy="177165"/>
          </a:xfrm>
          <a:prstGeom prst="rect">
            <a:avLst/>
          </a:prstGeom>
          <a:solidFill>
            <a:srgbClr val="4A6FA5">
              <a:alpha val="7825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3390900" y="2149983"/>
            <a:ext cx="130683" cy="177165"/>
          </a:xfrm>
          <a:prstGeom prst="rect">
            <a:avLst/>
          </a:prstGeom>
          <a:solidFill>
            <a:srgbClr val="4A6FA5">
              <a:alpha val="7344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3521583" y="2149983"/>
            <a:ext cx="130683" cy="177165"/>
          </a:xfrm>
          <a:prstGeom prst="rect">
            <a:avLst/>
          </a:prstGeom>
          <a:solidFill>
            <a:srgbClr val="4A6FA5">
              <a:alpha val="7679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3652266" y="2149983"/>
            <a:ext cx="130683" cy="177165"/>
          </a:xfrm>
          <a:prstGeom prst="rect">
            <a:avLst/>
          </a:prstGeom>
          <a:solidFill>
            <a:srgbClr val="4A6FA5">
              <a:alpha val="3288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3782949" y="2149983"/>
            <a:ext cx="130683" cy="177165"/>
          </a:xfrm>
          <a:prstGeom prst="rect">
            <a:avLst/>
          </a:prstGeom>
          <a:solidFill>
            <a:srgbClr val="4A6FA5">
              <a:alpha val="4314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777240" y="2327148"/>
            <a:ext cx="130683" cy="177165"/>
          </a:xfrm>
          <a:prstGeom prst="rect">
            <a:avLst/>
          </a:prstGeom>
          <a:solidFill>
            <a:srgbClr val="4A6FA5">
              <a:alpha val="3890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07923" y="2327148"/>
            <a:ext cx="130683" cy="177165"/>
          </a:xfrm>
          <a:prstGeom prst="rect">
            <a:avLst/>
          </a:prstGeom>
          <a:solidFill>
            <a:srgbClr val="4A6FA5">
              <a:alpha val="7831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038606" y="2327148"/>
            <a:ext cx="130683" cy="177165"/>
          </a:xfrm>
          <a:prstGeom prst="rect">
            <a:avLst/>
          </a:prstGeom>
          <a:solidFill>
            <a:srgbClr val="4A6FA5">
              <a:alpha val="8382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169289" y="2327148"/>
            <a:ext cx="130683" cy="177165"/>
          </a:xfrm>
          <a:prstGeom prst="rect">
            <a:avLst/>
          </a:prstGeom>
          <a:solidFill>
            <a:srgbClr val="4A6FA5">
              <a:alpha val="2331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299972" y="2327148"/>
            <a:ext cx="130683" cy="177165"/>
          </a:xfrm>
          <a:prstGeom prst="rect">
            <a:avLst/>
          </a:prstGeom>
          <a:solidFill>
            <a:srgbClr val="4A6FA5">
              <a:alpha val="2521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430655" y="2327148"/>
            <a:ext cx="130683" cy="177165"/>
          </a:xfrm>
          <a:prstGeom prst="rect">
            <a:avLst/>
          </a:prstGeom>
          <a:solidFill>
            <a:srgbClr val="4A6FA5">
              <a:alpha val="2939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561338" y="2327148"/>
            <a:ext cx="130683" cy="177165"/>
          </a:xfrm>
          <a:prstGeom prst="rect">
            <a:avLst/>
          </a:prstGeom>
          <a:solidFill>
            <a:srgbClr val="4A6FA5">
              <a:alpha val="29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692021" y="2327148"/>
            <a:ext cx="130683" cy="177165"/>
          </a:xfrm>
          <a:prstGeom prst="rect">
            <a:avLst/>
          </a:prstGeom>
          <a:solidFill>
            <a:srgbClr val="4A6FA5">
              <a:alpha val="4837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822704" y="2327148"/>
            <a:ext cx="130683" cy="177165"/>
          </a:xfrm>
          <a:prstGeom prst="rect">
            <a:avLst/>
          </a:prstGeom>
          <a:solidFill>
            <a:srgbClr val="4A6FA5">
              <a:alpha val="5618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953387" y="2327148"/>
            <a:ext cx="130683" cy="177165"/>
          </a:xfrm>
          <a:prstGeom prst="rect">
            <a:avLst/>
          </a:prstGeom>
          <a:solidFill>
            <a:srgbClr val="4A6FA5">
              <a:alpha val="3170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2084070" y="2327148"/>
            <a:ext cx="130683" cy="177165"/>
          </a:xfrm>
          <a:prstGeom prst="rect">
            <a:avLst/>
          </a:prstGeom>
          <a:solidFill>
            <a:srgbClr val="4A6FA5">
              <a:alpha val="1230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2214753" y="2327148"/>
            <a:ext cx="130683" cy="177165"/>
          </a:xfrm>
          <a:prstGeom prst="rect">
            <a:avLst/>
          </a:prstGeom>
          <a:solidFill>
            <a:srgbClr val="4A6FA5">
              <a:alpha val="4342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2345436" y="2327148"/>
            <a:ext cx="130683" cy="177165"/>
          </a:xfrm>
          <a:prstGeom prst="rect">
            <a:avLst/>
          </a:prstGeom>
          <a:solidFill>
            <a:srgbClr val="4A6FA5">
              <a:alpha val="3969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2476119" y="2327148"/>
            <a:ext cx="130683" cy="177165"/>
          </a:xfrm>
          <a:prstGeom prst="rect">
            <a:avLst/>
          </a:prstGeom>
          <a:solidFill>
            <a:srgbClr val="4A6FA5">
              <a:alpha val="5447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2606802" y="2327148"/>
            <a:ext cx="130683" cy="177165"/>
          </a:xfrm>
          <a:prstGeom prst="rect">
            <a:avLst/>
          </a:prstGeom>
          <a:solidFill>
            <a:srgbClr val="4A6FA5">
              <a:alpha val="8348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2737485" y="2327148"/>
            <a:ext cx="130683" cy="177165"/>
          </a:xfrm>
          <a:prstGeom prst="rect">
            <a:avLst/>
          </a:prstGeom>
          <a:solidFill>
            <a:srgbClr val="4A6FA5">
              <a:alpha val="6378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2868168" y="2327148"/>
            <a:ext cx="130683" cy="177165"/>
          </a:xfrm>
          <a:prstGeom prst="rect">
            <a:avLst/>
          </a:prstGeom>
          <a:solidFill>
            <a:srgbClr val="4A6FA5">
              <a:alpha val="5066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2998851" y="2327148"/>
            <a:ext cx="130683" cy="177165"/>
          </a:xfrm>
          <a:prstGeom prst="rect">
            <a:avLst/>
          </a:prstGeom>
          <a:solidFill>
            <a:srgbClr val="4A6FA5">
              <a:alpha val="5831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3129534" y="2327148"/>
            <a:ext cx="130683" cy="177165"/>
          </a:xfrm>
          <a:prstGeom prst="rect">
            <a:avLst/>
          </a:prstGeom>
          <a:solidFill>
            <a:srgbClr val="4A6FA5">
              <a:alpha val="6271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3260217" y="2327148"/>
            <a:ext cx="130683" cy="177165"/>
          </a:xfrm>
          <a:prstGeom prst="rect">
            <a:avLst/>
          </a:prstGeom>
          <a:solidFill>
            <a:srgbClr val="4A6FA5">
              <a:alpha val="1604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3390900" y="2327148"/>
            <a:ext cx="130683" cy="177165"/>
          </a:xfrm>
          <a:prstGeom prst="rect">
            <a:avLst/>
          </a:prstGeom>
          <a:solidFill>
            <a:srgbClr val="4A6FA5">
              <a:alpha val="7946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3521583" y="2327148"/>
            <a:ext cx="130683" cy="177165"/>
          </a:xfrm>
          <a:prstGeom prst="rect">
            <a:avLst/>
          </a:prstGeom>
          <a:solidFill>
            <a:srgbClr val="4A6FA5">
              <a:alpha val="7049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3652266" y="2327148"/>
            <a:ext cx="130683" cy="177165"/>
          </a:xfrm>
          <a:prstGeom prst="rect">
            <a:avLst/>
          </a:prstGeom>
          <a:solidFill>
            <a:srgbClr val="4A6FA5">
              <a:alpha val="7758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3782949" y="2327148"/>
            <a:ext cx="130683" cy="177165"/>
          </a:xfrm>
          <a:prstGeom prst="rect">
            <a:avLst/>
          </a:prstGeom>
          <a:solidFill>
            <a:srgbClr val="4A6FA5">
              <a:alpha val="718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777240" y="2504313"/>
            <a:ext cx="130683" cy="177165"/>
          </a:xfrm>
          <a:prstGeom prst="rect">
            <a:avLst/>
          </a:prstGeom>
          <a:solidFill>
            <a:srgbClr val="4A6FA5">
              <a:alpha val="4142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907923" y="2504313"/>
            <a:ext cx="130683" cy="177165"/>
          </a:xfrm>
          <a:prstGeom prst="rect">
            <a:avLst/>
          </a:prstGeom>
          <a:solidFill>
            <a:srgbClr val="4A6FA5">
              <a:alpha val="4192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1038606" y="2504313"/>
            <a:ext cx="130683" cy="177165"/>
          </a:xfrm>
          <a:prstGeom prst="rect">
            <a:avLst/>
          </a:prstGeom>
          <a:solidFill>
            <a:srgbClr val="4A6FA5">
              <a:alpha val="1976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169289" y="2504313"/>
            <a:ext cx="130683" cy="177165"/>
          </a:xfrm>
          <a:prstGeom prst="rect">
            <a:avLst/>
          </a:prstGeom>
          <a:solidFill>
            <a:srgbClr val="4A6FA5">
              <a:alpha val="5957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299972" y="2504313"/>
            <a:ext cx="130683" cy="177165"/>
          </a:xfrm>
          <a:prstGeom prst="rect">
            <a:avLst/>
          </a:prstGeom>
          <a:solidFill>
            <a:srgbClr val="4A6FA5">
              <a:alpha val="1666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430655" y="2504313"/>
            <a:ext cx="130683" cy="177165"/>
          </a:xfrm>
          <a:prstGeom prst="rect">
            <a:avLst/>
          </a:prstGeom>
          <a:solidFill>
            <a:srgbClr val="4A6FA5">
              <a:alpha val="1705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561338" y="2504313"/>
            <a:ext cx="130683" cy="177165"/>
          </a:xfrm>
          <a:prstGeom prst="rect">
            <a:avLst/>
          </a:prstGeom>
          <a:solidFill>
            <a:srgbClr val="4A6FA5">
              <a:alpha val="2765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692021" y="2504313"/>
            <a:ext cx="130683" cy="177165"/>
          </a:xfrm>
          <a:prstGeom prst="rect">
            <a:avLst/>
          </a:prstGeom>
          <a:solidFill>
            <a:srgbClr val="4A6FA5">
              <a:alpha val="2417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822704" y="2504313"/>
            <a:ext cx="130683" cy="177165"/>
          </a:xfrm>
          <a:prstGeom prst="rect">
            <a:avLst/>
          </a:prstGeom>
          <a:solidFill>
            <a:srgbClr val="4A6FA5">
              <a:alpha val="3750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953387" y="2504313"/>
            <a:ext cx="130683" cy="177165"/>
          </a:xfrm>
          <a:prstGeom prst="rect">
            <a:avLst/>
          </a:prstGeom>
          <a:solidFill>
            <a:srgbClr val="4A6FA5">
              <a:alpha val="1594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2084070" y="2504313"/>
            <a:ext cx="130683" cy="177165"/>
          </a:xfrm>
          <a:prstGeom prst="rect">
            <a:avLst/>
          </a:prstGeom>
          <a:solidFill>
            <a:srgbClr val="4A6FA5">
              <a:alpha val="1201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2214753" y="2504313"/>
            <a:ext cx="130683" cy="177165"/>
          </a:xfrm>
          <a:prstGeom prst="rect">
            <a:avLst/>
          </a:prstGeom>
          <a:solidFill>
            <a:srgbClr val="4A6FA5">
              <a:alpha val="2334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2345436" y="2504313"/>
            <a:ext cx="130683" cy="177165"/>
          </a:xfrm>
          <a:prstGeom prst="rect">
            <a:avLst/>
          </a:prstGeom>
          <a:solidFill>
            <a:srgbClr val="4A6FA5">
              <a:alpha val="1960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2476119" y="2504313"/>
            <a:ext cx="130683" cy="177165"/>
          </a:xfrm>
          <a:prstGeom prst="rect">
            <a:avLst/>
          </a:prstGeom>
          <a:solidFill>
            <a:srgbClr val="4A6FA5">
              <a:alpha val="3927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2606802" y="2504313"/>
            <a:ext cx="130683" cy="177165"/>
          </a:xfrm>
          <a:prstGeom prst="rect">
            <a:avLst/>
          </a:prstGeom>
          <a:solidFill>
            <a:srgbClr val="4A6FA5">
              <a:alpha val="1391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2737485" y="2504313"/>
            <a:ext cx="130683" cy="177165"/>
          </a:xfrm>
          <a:prstGeom prst="rect">
            <a:avLst/>
          </a:prstGeom>
          <a:solidFill>
            <a:srgbClr val="4A6FA5">
              <a:alpha val="7757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2868168" y="2504313"/>
            <a:ext cx="130683" cy="177165"/>
          </a:xfrm>
          <a:prstGeom prst="rect">
            <a:avLst/>
          </a:prstGeom>
          <a:solidFill>
            <a:srgbClr val="4A6FA5">
              <a:alpha val="5805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2998851" y="2504313"/>
            <a:ext cx="130683" cy="177165"/>
          </a:xfrm>
          <a:prstGeom prst="rect">
            <a:avLst/>
          </a:prstGeom>
          <a:solidFill>
            <a:srgbClr val="4A6FA5">
              <a:alpha val="2314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3129534" y="2504313"/>
            <a:ext cx="130683" cy="177165"/>
          </a:xfrm>
          <a:prstGeom prst="rect">
            <a:avLst/>
          </a:prstGeom>
          <a:solidFill>
            <a:srgbClr val="4A6FA5">
              <a:alpha val="3091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3260217" y="2504313"/>
            <a:ext cx="130683" cy="177165"/>
          </a:xfrm>
          <a:prstGeom prst="rect">
            <a:avLst/>
          </a:prstGeom>
          <a:solidFill>
            <a:srgbClr val="4A6FA5">
              <a:alpha val="3805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3390900" y="2504313"/>
            <a:ext cx="130683" cy="177165"/>
          </a:xfrm>
          <a:prstGeom prst="rect">
            <a:avLst/>
          </a:prstGeom>
          <a:solidFill>
            <a:srgbClr val="4A6FA5">
              <a:alpha val="3931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3521583" y="2504313"/>
            <a:ext cx="130683" cy="177165"/>
          </a:xfrm>
          <a:prstGeom prst="rect">
            <a:avLst/>
          </a:prstGeom>
          <a:solidFill>
            <a:srgbClr val="4A6FA5">
              <a:alpha val="2121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3652266" y="2504313"/>
            <a:ext cx="130683" cy="177165"/>
          </a:xfrm>
          <a:prstGeom prst="rect">
            <a:avLst/>
          </a:prstGeom>
          <a:solidFill>
            <a:srgbClr val="4A6FA5">
              <a:alpha val="7567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3782949" y="2504313"/>
            <a:ext cx="130683" cy="177165"/>
          </a:xfrm>
          <a:prstGeom prst="rect">
            <a:avLst/>
          </a:prstGeom>
          <a:solidFill>
            <a:srgbClr val="4A6FA5">
              <a:alpha val="8648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777240" y="2681478"/>
            <a:ext cx="130683" cy="177165"/>
          </a:xfrm>
          <a:prstGeom prst="rect">
            <a:avLst/>
          </a:prstGeom>
          <a:solidFill>
            <a:srgbClr val="4A6FA5">
              <a:alpha val="4694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907923" y="2681478"/>
            <a:ext cx="130683" cy="177165"/>
          </a:xfrm>
          <a:prstGeom prst="rect">
            <a:avLst/>
          </a:prstGeom>
          <a:solidFill>
            <a:srgbClr val="4A6FA5">
              <a:alpha val="4828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1038606" y="2681478"/>
            <a:ext cx="130683" cy="177165"/>
          </a:xfrm>
          <a:prstGeom prst="rect">
            <a:avLst/>
          </a:prstGeom>
          <a:solidFill>
            <a:srgbClr val="4A6FA5">
              <a:alpha val="1844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1169289" y="2681478"/>
            <a:ext cx="130683" cy="177165"/>
          </a:xfrm>
          <a:prstGeom prst="rect">
            <a:avLst/>
          </a:prstGeom>
          <a:solidFill>
            <a:srgbClr val="4A6FA5">
              <a:alpha val="1966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1299972" y="2681478"/>
            <a:ext cx="130683" cy="177165"/>
          </a:xfrm>
          <a:prstGeom prst="rect">
            <a:avLst/>
          </a:prstGeom>
          <a:solidFill>
            <a:srgbClr val="4A6FA5">
              <a:alpha val="3769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1430655" y="2681478"/>
            <a:ext cx="130683" cy="177165"/>
          </a:xfrm>
          <a:prstGeom prst="rect">
            <a:avLst/>
          </a:prstGeom>
          <a:solidFill>
            <a:srgbClr val="4A6FA5">
              <a:alpha val="3185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1561338" y="2681478"/>
            <a:ext cx="130683" cy="177165"/>
          </a:xfrm>
          <a:prstGeom prst="rect">
            <a:avLst/>
          </a:prstGeom>
          <a:solidFill>
            <a:srgbClr val="4A6FA5">
              <a:alpha val="7416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1692021" y="2681478"/>
            <a:ext cx="130683" cy="177165"/>
          </a:xfrm>
          <a:prstGeom prst="rect">
            <a:avLst/>
          </a:prstGeom>
          <a:solidFill>
            <a:srgbClr val="4A6FA5">
              <a:alpha val="2410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1822704" y="2681478"/>
            <a:ext cx="130683" cy="177165"/>
          </a:xfrm>
          <a:prstGeom prst="rect">
            <a:avLst/>
          </a:prstGeom>
          <a:solidFill>
            <a:srgbClr val="4A6FA5">
              <a:alpha val="1373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1953387" y="2681478"/>
            <a:ext cx="130683" cy="177165"/>
          </a:xfrm>
          <a:prstGeom prst="rect">
            <a:avLst/>
          </a:prstGeom>
          <a:solidFill>
            <a:srgbClr val="4A6FA5">
              <a:alpha val="8332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2084070" y="2681478"/>
            <a:ext cx="130683" cy="177165"/>
          </a:xfrm>
          <a:prstGeom prst="rect">
            <a:avLst/>
          </a:prstGeom>
          <a:solidFill>
            <a:srgbClr val="4A6FA5">
              <a:alpha val="5161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2214753" y="2681478"/>
            <a:ext cx="130683" cy="177165"/>
          </a:xfrm>
          <a:prstGeom prst="rect">
            <a:avLst/>
          </a:prstGeom>
          <a:solidFill>
            <a:srgbClr val="4A6FA5">
              <a:alpha val="2299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2345436" y="2681478"/>
            <a:ext cx="130683" cy="177165"/>
          </a:xfrm>
          <a:prstGeom prst="rect">
            <a:avLst/>
          </a:prstGeom>
          <a:solidFill>
            <a:srgbClr val="4A6FA5">
              <a:alpha val="5273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2476119" y="2681478"/>
            <a:ext cx="130683" cy="177165"/>
          </a:xfrm>
          <a:prstGeom prst="rect">
            <a:avLst/>
          </a:prstGeom>
          <a:solidFill>
            <a:srgbClr val="4A6FA5">
              <a:alpha val="1402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2606802" y="2681478"/>
            <a:ext cx="130683" cy="177165"/>
          </a:xfrm>
          <a:prstGeom prst="rect">
            <a:avLst/>
          </a:prstGeom>
          <a:solidFill>
            <a:srgbClr val="4A6FA5">
              <a:alpha val="5160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2737485" y="2681478"/>
            <a:ext cx="130683" cy="177165"/>
          </a:xfrm>
          <a:prstGeom prst="rect">
            <a:avLst/>
          </a:prstGeom>
          <a:solidFill>
            <a:srgbClr val="4A6FA5">
              <a:alpha val="8538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2868168" y="2681478"/>
            <a:ext cx="130683" cy="177165"/>
          </a:xfrm>
          <a:prstGeom prst="rect">
            <a:avLst/>
          </a:prstGeom>
          <a:solidFill>
            <a:srgbClr val="4A6FA5">
              <a:alpha val="7674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2998851" y="2681478"/>
            <a:ext cx="130683" cy="177165"/>
          </a:xfrm>
          <a:prstGeom prst="rect">
            <a:avLst/>
          </a:prstGeom>
          <a:solidFill>
            <a:srgbClr val="4A6FA5">
              <a:alpha val="6421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3129534" y="2681478"/>
            <a:ext cx="130683" cy="177165"/>
          </a:xfrm>
          <a:prstGeom prst="rect">
            <a:avLst/>
          </a:prstGeom>
          <a:solidFill>
            <a:srgbClr val="4A6FA5">
              <a:alpha val="3158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3260217" y="2681478"/>
            <a:ext cx="130683" cy="177165"/>
          </a:xfrm>
          <a:prstGeom prst="rect">
            <a:avLst/>
          </a:prstGeom>
          <a:solidFill>
            <a:srgbClr val="4A6FA5">
              <a:alpha val="3950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3390900" y="2681478"/>
            <a:ext cx="130683" cy="177165"/>
          </a:xfrm>
          <a:prstGeom prst="rect">
            <a:avLst/>
          </a:prstGeom>
          <a:solidFill>
            <a:srgbClr val="4A6FA5">
              <a:alpha val="2452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3521583" y="2681478"/>
            <a:ext cx="130683" cy="177165"/>
          </a:xfrm>
          <a:prstGeom prst="rect">
            <a:avLst/>
          </a:prstGeom>
          <a:solidFill>
            <a:srgbClr val="4A6FA5">
              <a:alpha val="6989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3652266" y="2681478"/>
            <a:ext cx="130683" cy="177165"/>
          </a:xfrm>
          <a:prstGeom prst="rect">
            <a:avLst/>
          </a:prstGeom>
          <a:solidFill>
            <a:srgbClr val="4A6FA5">
              <a:alpha val="5194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3782949" y="2681478"/>
            <a:ext cx="130683" cy="177165"/>
          </a:xfrm>
          <a:prstGeom prst="rect">
            <a:avLst/>
          </a:prstGeom>
          <a:solidFill>
            <a:srgbClr val="4A6FA5">
              <a:alpha val="7042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777240" y="2858643"/>
            <a:ext cx="130683" cy="177165"/>
          </a:xfrm>
          <a:prstGeom prst="rect">
            <a:avLst/>
          </a:prstGeom>
          <a:solidFill>
            <a:srgbClr val="4A6FA5">
              <a:alpha val="367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907923" y="2858643"/>
            <a:ext cx="130683" cy="177165"/>
          </a:xfrm>
          <a:prstGeom prst="rect">
            <a:avLst/>
          </a:prstGeom>
          <a:solidFill>
            <a:srgbClr val="4A6FA5">
              <a:alpha val="2872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1038606" y="2858643"/>
            <a:ext cx="130683" cy="177165"/>
          </a:xfrm>
          <a:prstGeom prst="rect">
            <a:avLst/>
          </a:prstGeom>
          <a:solidFill>
            <a:srgbClr val="4A6FA5">
              <a:alpha val="7286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1169289" y="2858643"/>
            <a:ext cx="130683" cy="177165"/>
          </a:xfrm>
          <a:prstGeom prst="rect">
            <a:avLst/>
          </a:prstGeom>
          <a:solidFill>
            <a:srgbClr val="4A6FA5">
              <a:alpha val="8586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1299972" y="2858643"/>
            <a:ext cx="130683" cy="177165"/>
          </a:xfrm>
          <a:prstGeom prst="rect">
            <a:avLst/>
          </a:prstGeom>
          <a:solidFill>
            <a:srgbClr val="4A6FA5">
              <a:alpha val="7594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1430655" y="2858643"/>
            <a:ext cx="130683" cy="177165"/>
          </a:xfrm>
          <a:prstGeom prst="rect">
            <a:avLst/>
          </a:prstGeom>
          <a:solidFill>
            <a:srgbClr val="4A6FA5">
              <a:alpha val="7245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1561338" y="2858643"/>
            <a:ext cx="130683" cy="177165"/>
          </a:xfrm>
          <a:prstGeom prst="rect">
            <a:avLst/>
          </a:prstGeom>
          <a:solidFill>
            <a:srgbClr val="4A6FA5">
              <a:alpha val="7337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1692021" y="2858643"/>
            <a:ext cx="130683" cy="177165"/>
          </a:xfrm>
          <a:prstGeom prst="rect">
            <a:avLst/>
          </a:prstGeom>
          <a:solidFill>
            <a:srgbClr val="4A6FA5">
              <a:alpha val="6749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1822704" y="2858643"/>
            <a:ext cx="130683" cy="177165"/>
          </a:xfrm>
          <a:prstGeom prst="rect">
            <a:avLst/>
          </a:prstGeom>
          <a:solidFill>
            <a:srgbClr val="4A6FA5">
              <a:alpha val="2900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1953387" y="2858643"/>
            <a:ext cx="130683" cy="177165"/>
          </a:xfrm>
          <a:prstGeom prst="rect">
            <a:avLst/>
          </a:prstGeom>
          <a:solidFill>
            <a:srgbClr val="4A6FA5">
              <a:alpha val="5082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2084070" y="2858643"/>
            <a:ext cx="130683" cy="177165"/>
          </a:xfrm>
          <a:prstGeom prst="rect">
            <a:avLst/>
          </a:prstGeom>
          <a:solidFill>
            <a:srgbClr val="4A6FA5">
              <a:alpha val="386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2214753" y="2858643"/>
            <a:ext cx="130683" cy="177165"/>
          </a:xfrm>
          <a:prstGeom prst="rect">
            <a:avLst/>
          </a:prstGeom>
          <a:solidFill>
            <a:srgbClr val="4A6FA5">
              <a:alpha val="1417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2345436" y="2858643"/>
            <a:ext cx="130683" cy="177165"/>
          </a:xfrm>
          <a:prstGeom prst="rect">
            <a:avLst/>
          </a:prstGeom>
          <a:solidFill>
            <a:srgbClr val="4A6FA5">
              <a:alpha val="1409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2476119" y="2858643"/>
            <a:ext cx="130683" cy="177165"/>
          </a:xfrm>
          <a:prstGeom prst="rect">
            <a:avLst/>
          </a:prstGeom>
          <a:solidFill>
            <a:srgbClr val="4A6FA5">
              <a:alpha val="3295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2606802" y="2858643"/>
            <a:ext cx="130683" cy="177165"/>
          </a:xfrm>
          <a:prstGeom prst="rect">
            <a:avLst/>
          </a:prstGeom>
          <a:solidFill>
            <a:srgbClr val="4A6FA5">
              <a:alpha val="3143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2737485" y="2858643"/>
            <a:ext cx="130683" cy="177165"/>
          </a:xfrm>
          <a:prstGeom prst="rect">
            <a:avLst/>
          </a:prstGeom>
          <a:solidFill>
            <a:srgbClr val="4A6FA5">
              <a:alpha val="6393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2868168" y="2858643"/>
            <a:ext cx="130683" cy="177165"/>
          </a:xfrm>
          <a:prstGeom prst="rect">
            <a:avLst/>
          </a:prstGeom>
          <a:solidFill>
            <a:srgbClr val="4A6FA5">
              <a:alpha val="8373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2998851" y="2858643"/>
            <a:ext cx="130683" cy="177165"/>
          </a:xfrm>
          <a:prstGeom prst="rect">
            <a:avLst/>
          </a:prstGeom>
          <a:solidFill>
            <a:srgbClr val="4A6FA5">
              <a:alpha val="4554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3129534" y="2858643"/>
            <a:ext cx="130683" cy="177165"/>
          </a:xfrm>
          <a:prstGeom prst="rect">
            <a:avLst/>
          </a:prstGeom>
          <a:solidFill>
            <a:srgbClr val="4A6FA5">
              <a:alpha val="8227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3260217" y="2858643"/>
            <a:ext cx="130683" cy="177165"/>
          </a:xfrm>
          <a:prstGeom prst="rect">
            <a:avLst/>
          </a:prstGeom>
          <a:solidFill>
            <a:srgbClr val="4A6FA5">
              <a:alpha val="8610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3390900" y="2858643"/>
            <a:ext cx="130683" cy="177165"/>
          </a:xfrm>
          <a:prstGeom prst="rect">
            <a:avLst/>
          </a:prstGeom>
          <a:solidFill>
            <a:srgbClr val="4A6FA5">
              <a:alpha val="8362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3521583" y="2858643"/>
            <a:ext cx="130683" cy="177165"/>
          </a:xfrm>
          <a:prstGeom prst="rect">
            <a:avLst/>
          </a:prstGeom>
          <a:solidFill>
            <a:srgbClr val="4A6FA5">
              <a:alpha val="3934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3652266" y="2858643"/>
            <a:ext cx="130683" cy="177165"/>
          </a:xfrm>
          <a:prstGeom prst="rect">
            <a:avLst/>
          </a:prstGeom>
          <a:solidFill>
            <a:srgbClr val="4A6FA5">
              <a:alpha val="2853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3782949" y="2858643"/>
            <a:ext cx="130683" cy="177165"/>
          </a:xfrm>
          <a:prstGeom prst="rect">
            <a:avLst/>
          </a:prstGeom>
          <a:solidFill>
            <a:srgbClr val="4A6FA5">
              <a:alpha val="2901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365760" y="223570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Calibri"/>
              </a:rPr>
              <a:t>genes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777240" y="1435608"/>
            <a:ext cx="31363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475569"/>
                </a:solidFill>
                <a:latin typeface="Calibri"/>
              </a:rPr>
              <a:t>cells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365760" y="3008376"/>
            <a:ext cx="36393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Calibri"/>
              </a:rPr>
              <a:t>cell labels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777240" y="3172968"/>
            <a:ext cx="130683" cy="164592"/>
          </a:xfrm>
          <a:prstGeom prst="rect">
            <a:avLst/>
          </a:prstGeom>
          <a:solidFill>
            <a:srgbClr val="C7CDD4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907923" y="3172968"/>
            <a:ext cx="130683" cy="164592"/>
          </a:xfrm>
          <a:prstGeom prst="rect">
            <a:avLst/>
          </a:prstGeom>
          <a:solidFill>
            <a:srgbClr val="C7CDD4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1038606" y="3172968"/>
            <a:ext cx="130683" cy="164592"/>
          </a:xfrm>
          <a:prstGeom prst="rect">
            <a:avLst/>
          </a:prstGeom>
          <a:solidFill>
            <a:srgbClr val="C7CDD4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1169289" y="3172968"/>
            <a:ext cx="130683" cy="164592"/>
          </a:xfrm>
          <a:prstGeom prst="rect">
            <a:avLst/>
          </a:prstGeom>
          <a:solidFill>
            <a:srgbClr val="E0804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1299972" y="3172968"/>
            <a:ext cx="130683" cy="164592"/>
          </a:xfrm>
          <a:prstGeom prst="rect">
            <a:avLst/>
          </a:prstGeom>
          <a:solidFill>
            <a:srgbClr val="C7CDD4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1430655" y="3172968"/>
            <a:ext cx="130683" cy="164592"/>
          </a:xfrm>
          <a:prstGeom prst="rect">
            <a:avLst/>
          </a:prstGeom>
          <a:solidFill>
            <a:srgbClr val="C7CDD4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1561338" y="3172968"/>
            <a:ext cx="130683" cy="164592"/>
          </a:xfrm>
          <a:prstGeom prst="rect">
            <a:avLst/>
          </a:prstGeom>
          <a:solidFill>
            <a:srgbClr val="C7CDD4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1692021" y="3172968"/>
            <a:ext cx="130683" cy="164592"/>
          </a:xfrm>
          <a:prstGeom prst="rect">
            <a:avLst/>
          </a:prstGeom>
          <a:solidFill>
            <a:srgbClr val="C7CDD4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1822704" y="3172968"/>
            <a:ext cx="130683" cy="164592"/>
          </a:xfrm>
          <a:prstGeom prst="rect">
            <a:avLst/>
          </a:prstGeom>
          <a:solidFill>
            <a:srgbClr val="C7CDD4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1953387" y="3172968"/>
            <a:ext cx="130683" cy="164592"/>
          </a:xfrm>
          <a:prstGeom prst="rect">
            <a:avLst/>
          </a:prstGeom>
          <a:solidFill>
            <a:srgbClr val="C7CDD4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2084070" y="3172968"/>
            <a:ext cx="130683" cy="164592"/>
          </a:xfrm>
          <a:prstGeom prst="rect">
            <a:avLst/>
          </a:prstGeom>
          <a:solidFill>
            <a:srgbClr val="C7CDD4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2214753" y="3172968"/>
            <a:ext cx="130683" cy="164592"/>
          </a:xfrm>
          <a:prstGeom prst="rect">
            <a:avLst/>
          </a:prstGeom>
          <a:solidFill>
            <a:srgbClr val="E0804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2345436" y="3172968"/>
            <a:ext cx="130683" cy="164592"/>
          </a:xfrm>
          <a:prstGeom prst="rect">
            <a:avLst/>
          </a:prstGeom>
          <a:solidFill>
            <a:srgbClr val="C7CDD4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2476119" y="3172968"/>
            <a:ext cx="130683" cy="164592"/>
          </a:xfrm>
          <a:prstGeom prst="rect">
            <a:avLst/>
          </a:prstGeom>
          <a:solidFill>
            <a:srgbClr val="C7CDD4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2606802" y="3172968"/>
            <a:ext cx="130683" cy="164592"/>
          </a:xfrm>
          <a:prstGeom prst="rect">
            <a:avLst/>
          </a:prstGeom>
          <a:solidFill>
            <a:srgbClr val="C7CDD4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2737485" y="3172968"/>
            <a:ext cx="130683" cy="164592"/>
          </a:xfrm>
          <a:prstGeom prst="rect">
            <a:avLst/>
          </a:prstGeom>
          <a:solidFill>
            <a:srgbClr val="C7CDD4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2868168" y="3172968"/>
            <a:ext cx="130683" cy="164592"/>
          </a:xfrm>
          <a:prstGeom prst="rect">
            <a:avLst/>
          </a:prstGeom>
          <a:solidFill>
            <a:srgbClr val="C7CDD4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2998851" y="3172968"/>
            <a:ext cx="130683" cy="164592"/>
          </a:xfrm>
          <a:prstGeom prst="rect">
            <a:avLst/>
          </a:prstGeom>
          <a:solidFill>
            <a:srgbClr val="C7CDD4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3129534" y="3172968"/>
            <a:ext cx="130683" cy="164592"/>
          </a:xfrm>
          <a:prstGeom prst="rect">
            <a:avLst/>
          </a:prstGeom>
          <a:solidFill>
            <a:srgbClr val="E0804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3260217" y="3172968"/>
            <a:ext cx="130683" cy="164592"/>
          </a:xfrm>
          <a:prstGeom prst="rect">
            <a:avLst/>
          </a:prstGeom>
          <a:solidFill>
            <a:srgbClr val="C7CDD4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3390900" y="3172968"/>
            <a:ext cx="130683" cy="164592"/>
          </a:xfrm>
          <a:prstGeom prst="rect">
            <a:avLst/>
          </a:prstGeom>
          <a:solidFill>
            <a:srgbClr val="C7CDD4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3521583" y="3172968"/>
            <a:ext cx="130683" cy="164592"/>
          </a:xfrm>
          <a:prstGeom prst="rect">
            <a:avLst/>
          </a:prstGeom>
          <a:solidFill>
            <a:srgbClr val="C7CDD4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3652266" y="3172968"/>
            <a:ext cx="130683" cy="164592"/>
          </a:xfrm>
          <a:prstGeom prst="rect">
            <a:avLst/>
          </a:prstGeom>
          <a:solidFill>
            <a:srgbClr val="C7CDD4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3782949" y="3172968"/>
            <a:ext cx="130683" cy="164592"/>
          </a:xfrm>
          <a:prstGeom prst="rect">
            <a:avLst/>
          </a:prstGeom>
          <a:solidFill>
            <a:srgbClr val="C7CDD4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777240" y="3465576"/>
            <a:ext cx="118872" cy="118872"/>
          </a:xfrm>
          <a:prstGeom prst="rect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941832" y="344728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Calibri"/>
              </a:rPr>
              <a:t>majority labelled cells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2240280" y="3465576"/>
            <a:ext cx="118872" cy="118872"/>
          </a:xfrm>
          <a:prstGeom prst="rect">
            <a:avLst/>
          </a:prstGeom>
          <a:solidFill>
            <a:srgbClr val="E08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2404872" y="3447288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Calibri"/>
              </a:rPr>
              <a:t>rare cells (~1–10%)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365760" y="3566160"/>
            <a:ext cx="36393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  <a:latin typeface="Calibri"/>
              </a:rPr>
              <a:t>Heavily imbalanced labels: only a few rare cells observed during training.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274320" y="4023359"/>
            <a:ext cx="3822192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365760" y="4069079"/>
            <a:ext cx="36393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C3E50"/>
                </a:solidFill>
                <a:latin typeface="Calibri"/>
              </a:rPr>
              <a:t>B · Frozen scANVI backbone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365760" y="4270248"/>
            <a:ext cx="3639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Calibri"/>
              </a:rPr>
              <a:t>semi-supervised encoder → latent z (10D; 2D UMAP for display)</a:t>
            </a:r>
          </a:p>
        </p:txBody>
      </p:sp>
      <p:cxnSp>
        <p:nvCxnSpPr>
          <p:cNvPr id="243" name="Connector 242"/>
          <p:cNvCxnSpPr/>
          <p:nvPr/>
        </p:nvCxnSpPr>
        <p:spPr>
          <a:xfrm>
            <a:off x="777240" y="6263640"/>
            <a:ext cx="3090672" cy="0"/>
          </a:xfrm>
          <a:prstGeom prst="line">
            <a:avLst/>
          </a:prstGeom>
          <a:ln w="9525">
            <a:solidFill>
              <a:srgbClr val="9AA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777240" y="4617720"/>
            <a:ext cx="0" cy="1645920"/>
          </a:xfrm>
          <a:prstGeom prst="line">
            <a:avLst/>
          </a:prstGeom>
          <a:ln w="9525">
            <a:solidFill>
              <a:srgbClr val="9AA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5" name="TextBox 244"/>
          <p:cNvSpPr txBox="1"/>
          <p:nvPr/>
        </p:nvSpPr>
        <p:spPr>
          <a:xfrm>
            <a:off x="3502152" y="6281927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7F8C8D"/>
                </a:solidFill>
                <a:latin typeface="Calibri"/>
              </a:rPr>
              <a:t>UMAP 1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274320" y="4617720"/>
            <a:ext cx="411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7F8C8D"/>
                </a:solidFill>
                <a:latin typeface="Calibri"/>
              </a:rPr>
              <a:t>UMAP 2</a:t>
            </a:r>
          </a:p>
        </p:txBody>
      </p:sp>
      <p:sp>
        <p:nvSpPr>
          <p:cNvPr id="247" name="Oval 246"/>
          <p:cNvSpPr/>
          <p:nvPr/>
        </p:nvSpPr>
        <p:spPr>
          <a:xfrm>
            <a:off x="1283651" y="5321757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171925" y="5119310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065991" y="5192085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072398" y="5057836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184085" y="5201415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215829" y="5105646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66317" y="5183300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028166" y="5238414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195185" y="5407680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184419" y="5175988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278583" y="5207397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248981" y="5155794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185809" y="5282880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229524" y="5200967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066893" y="5229931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172888" y="5255099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2406882" y="5854067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2211416" y="5935477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2255702" y="5779710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2129979" y="5845155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2063609" y="5835864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2120155" y="5891893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2080500" y="5963187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2116629" y="5599091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2291463" y="5881322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2096930" y="5947736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2194827" y="5926050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2085754" y="5940011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2017058" y="6065930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2044406" y="5899961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2173624" y="5942760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2146897" y="5969310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806108" y="5897222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2142583" y="5864054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3049040" y="5212082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2955214" y="5188522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3016682" y="5073867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3214090" y="5112185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3036455" y="5164485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3143419" y="5094959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3094146" y="5008742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3006840" y="5057717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2918556" y="4959841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2891615" y="5075957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3024613" y="5068488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3046701" y="4975654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3033113" y="5119551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3109055" y="5020401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1851989" y="4805209"/>
            <a:ext cx="50292" cy="50292"/>
          </a:xfrm>
          <a:prstGeom prst="ellipse">
            <a:avLst/>
          </a:prstGeom>
          <a:solidFill>
            <a:srgbClr val="E08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1819872" y="4798024"/>
            <a:ext cx="50292" cy="50292"/>
          </a:xfrm>
          <a:prstGeom prst="ellipse">
            <a:avLst/>
          </a:prstGeom>
          <a:solidFill>
            <a:srgbClr val="E08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1908656" y="4801780"/>
            <a:ext cx="50292" cy="50292"/>
          </a:xfrm>
          <a:prstGeom prst="ellipse">
            <a:avLst/>
          </a:prstGeom>
          <a:solidFill>
            <a:srgbClr val="E08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1949358" y="4718802"/>
            <a:ext cx="50292" cy="50292"/>
          </a:xfrm>
          <a:prstGeom prst="ellipse">
            <a:avLst/>
          </a:prstGeom>
          <a:solidFill>
            <a:srgbClr val="E08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1853687" y="4730314"/>
            <a:ext cx="50292" cy="50292"/>
          </a:xfrm>
          <a:prstGeom prst="ellipse">
            <a:avLst/>
          </a:prstGeom>
          <a:solidFill>
            <a:srgbClr val="E08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1799218" y="4763685"/>
            <a:ext cx="50292" cy="50292"/>
          </a:xfrm>
          <a:prstGeom prst="ellipse">
            <a:avLst/>
          </a:prstGeom>
          <a:solidFill>
            <a:srgbClr val="E08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1863537" y="4802271"/>
            <a:ext cx="50292" cy="50292"/>
          </a:xfrm>
          <a:prstGeom prst="ellipse">
            <a:avLst/>
          </a:prstGeom>
          <a:solidFill>
            <a:srgbClr val="E08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TextBox 301"/>
          <p:cNvSpPr txBox="1"/>
          <p:nvPr/>
        </p:nvSpPr>
        <p:spPr>
          <a:xfrm>
            <a:off x="960120" y="5532120"/>
            <a:ext cx="822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Calibri"/>
              </a:rPr>
              <a:t>majority A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2057400" y="6245352"/>
            <a:ext cx="822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Calibri"/>
              </a:rPr>
              <a:t>majority B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3017520" y="5486400"/>
            <a:ext cx="822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Calibri"/>
              </a:rPr>
              <a:t>majority C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1764792" y="4965192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E08043"/>
                </a:solidFill>
                <a:latin typeface="Calibri"/>
              </a:rPr>
              <a:t>rare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3090672" y="4389120"/>
            <a:ext cx="868680" cy="201168"/>
          </a:xfrm>
          <a:prstGeom prst="rect">
            <a:avLst/>
          </a:prstGeom>
          <a:noFill/>
          <a:ln w="762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TextBox 306"/>
          <p:cNvSpPr txBox="1"/>
          <p:nvPr/>
        </p:nvSpPr>
        <p:spPr>
          <a:xfrm>
            <a:off x="3090672" y="4389120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2C3E50"/>
                </a:solidFill>
                <a:latin typeface="Calibri"/>
              </a:rPr>
              <a:t>frozen backbone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4261104" y="1115568"/>
            <a:ext cx="3822192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TextBox 308"/>
          <p:cNvSpPr txBox="1"/>
          <p:nvPr/>
        </p:nvSpPr>
        <p:spPr>
          <a:xfrm>
            <a:off x="4352544" y="1161288"/>
            <a:ext cx="36393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C3E50"/>
                </a:solidFill>
                <a:latin typeface="Calibri"/>
              </a:rPr>
              <a:t>C · Prototype reference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4352544" y="1362456"/>
            <a:ext cx="3639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Calibri"/>
              </a:rPr>
              <a:t>class means + radii in latent z; separability score S</a:t>
            </a:r>
          </a:p>
        </p:txBody>
      </p:sp>
      <p:cxnSp>
        <p:nvCxnSpPr>
          <p:cNvPr id="311" name="Connector 310"/>
          <p:cNvCxnSpPr/>
          <p:nvPr/>
        </p:nvCxnSpPr>
        <p:spPr>
          <a:xfrm>
            <a:off x="4764024" y="3355848"/>
            <a:ext cx="3090672" cy="0"/>
          </a:xfrm>
          <a:prstGeom prst="line">
            <a:avLst/>
          </a:prstGeom>
          <a:ln w="9525">
            <a:solidFill>
              <a:srgbClr val="9AA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>
            <a:off x="4764024" y="1709928"/>
            <a:ext cx="0" cy="1645920"/>
          </a:xfrm>
          <a:prstGeom prst="line">
            <a:avLst/>
          </a:prstGeom>
          <a:ln w="9525">
            <a:solidFill>
              <a:srgbClr val="9AA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3" name="Oval 312"/>
          <p:cNvSpPr/>
          <p:nvPr/>
        </p:nvSpPr>
        <p:spPr>
          <a:xfrm>
            <a:off x="5044850" y="2679360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5213860" y="2574592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5139532" y="2578052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5253316" y="2802901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5276665" y="2738245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5189054" y="2758207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5085131" y="2797636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5037684" y="2751917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5216340" y="2789608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5115127" y="2984553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5157963" y="2730687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5167234" y="2736543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4924044" y="2555748"/>
            <a:ext cx="502920" cy="502920"/>
          </a:xfrm>
          <a:prstGeom prst="ellipse">
            <a:avLst/>
          </a:prstGeom>
          <a:noFill/>
          <a:ln w="9525">
            <a:solidFill>
              <a:srgbClr val="7F8C8D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6" name="Connector 325"/>
          <p:cNvCxnSpPr/>
          <p:nvPr/>
        </p:nvCxnSpPr>
        <p:spPr>
          <a:xfrm>
            <a:off x="5129784" y="2761488"/>
            <a:ext cx="91440" cy="91440"/>
          </a:xfrm>
          <a:prstGeom prst="line">
            <a:avLst/>
          </a:prstGeom>
          <a:ln w="27940">
            <a:solidFill>
              <a:srgbClr val="4A6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 flipV="1">
            <a:off x="5129784" y="2761488"/>
            <a:ext cx="91440" cy="91440"/>
          </a:xfrm>
          <a:prstGeom prst="line">
            <a:avLst/>
          </a:prstGeom>
          <a:ln w="27940">
            <a:solidFill>
              <a:srgbClr val="4A6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8" name="Oval 327"/>
          <p:cNvSpPr/>
          <p:nvPr/>
        </p:nvSpPr>
        <p:spPr>
          <a:xfrm>
            <a:off x="7072854" y="2940770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6956261" y="3111074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7161995" y="3104770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6875430" y="3133081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6917577" y="3216537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7003776" y="3267261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7015212" y="3010609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6892727" y="3071392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7067884" y="3213152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7051550" y="3036817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7072942" y="2973015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7073331" y="3035791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6784848" y="2862072"/>
            <a:ext cx="530352" cy="530352"/>
          </a:xfrm>
          <a:prstGeom prst="ellipse">
            <a:avLst/>
          </a:prstGeom>
          <a:noFill/>
          <a:ln w="9525">
            <a:solidFill>
              <a:srgbClr val="7F8C8D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1" name="Connector 340"/>
          <p:cNvCxnSpPr/>
          <p:nvPr/>
        </p:nvCxnSpPr>
        <p:spPr>
          <a:xfrm>
            <a:off x="7004304" y="3081528"/>
            <a:ext cx="91440" cy="91440"/>
          </a:xfrm>
          <a:prstGeom prst="line">
            <a:avLst/>
          </a:prstGeom>
          <a:ln w="27940">
            <a:solidFill>
              <a:srgbClr val="4A6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 flipV="1">
            <a:off x="7004304" y="3081528"/>
            <a:ext cx="91440" cy="91440"/>
          </a:xfrm>
          <a:prstGeom prst="line">
            <a:avLst/>
          </a:prstGeom>
          <a:ln w="27940">
            <a:solidFill>
              <a:srgbClr val="4A6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3" name="Oval 342"/>
          <p:cNvSpPr/>
          <p:nvPr/>
        </p:nvSpPr>
        <p:spPr>
          <a:xfrm>
            <a:off x="6094099" y="1991837"/>
            <a:ext cx="50292" cy="50292"/>
          </a:xfrm>
          <a:prstGeom prst="ellipse">
            <a:avLst/>
          </a:prstGeom>
          <a:solidFill>
            <a:srgbClr val="E08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6096006" y="1938935"/>
            <a:ext cx="50292" cy="50292"/>
          </a:xfrm>
          <a:prstGeom prst="ellipse">
            <a:avLst/>
          </a:prstGeom>
          <a:solidFill>
            <a:srgbClr val="E08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6050949" y="1945448"/>
            <a:ext cx="50292" cy="50292"/>
          </a:xfrm>
          <a:prstGeom prst="ellipse">
            <a:avLst/>
          </a:prstGeom>
          <a:solidFill>
            <a:srgbClr val="E08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6181649" y="1986250"/>
            <a:ext cx="50292" cy="50292"/>
          </a:xfrm>
          <a:prstGeom prst="ellipse">
            <a:avLst/>
          </a:prstGeom>
          <a:solidFill>
            <a:srgbClr val="E08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6176846" y="1975033"/>
            <a:ext cx="50292" cy="50292"/>
          </a:xfrm>
          <a:prstGeom prst="ellipse">
            <a:avLst/>
          </a:prstGeom>
          <a:solidFill>
            <a:srgbClr val="E08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6135746" y="1970964"/>
            <a:ext cx="50292" cy="50292"/>
          </a:xfrm>
          <a:prstGeom prst="ellipse">
            <a:avLst/>
          </a:prstGeom>
          <a:solidFill>
            <a:srgbClr val="E08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5975604" y="1824228"/>
            <a:ext cx="320040" cy="320040"/>
          </a:xfrm>
          <a:prstGeom prst="ellipse">
            <a:avLst/>
          </a:prstGeom>
          <a:noFill/>
          <a:ln w="9525">
            <a:solidFill>
              <a:srgbClr val="E08043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0" name="Connector 349"/>
          <p:cNvCxnSpPr/>
          <p:nvPr/>
        </p:nvCxnSpPr>
        <p:spPr>
          <a:xfrm>
            <a:off x="6089904" y="1938528"/>
            <a:ext cx="91440" cy="91439"/>
          </a:xfrm>
          <a:prstGeom prst="line">
            <a:avLst/>
          </a:prstGeom>
          <a:ln w="27940">
            <a:solidFill>
              <a:srgbClr val="E08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 flipV="1">
            <a:off x="6089904" y="1938528"/>
            <a:ext cx="91440" cy="91439"/>
          </a:xfrm>
          <a:prstGeom prst="line">
            <a:avLst/>
          </a:prstGeom>
          <a:ln w="27940">
            <a:solidFill>
              <a:srgbClr val="E08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 flipV="1">
            <a:off x="5175504" y="1984248"/>
            <a:ext cx="960120" cy="822960"/>
          </a:xfrm>
          <a:prstGeom prst="line">
            <a:avLst/>
          </a:prstGeom>
          <a:ln w="9525">
            <a:solidFill>
              <a:srgbClr val="475569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3" name="TextBox 352"/>
          <p:cNvSpPr txBox="1"/>
          <p:nvPr/>
        </p:nvSpPr>
        <p:spPr>
          <a:xfrm>
            <a:off x="5404104" y="2304288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Calibri"/>
              </a:rPr>
              <a:t>d(rare, majority)</a:t>
            </a:r>
          </a:p>
        </p:txBody>
      </p:sp>
      <p:sp>
        <p:nvSpPr>
          <p:cNvPr id="354" name="TextBox 353"/>
          <p:cNvSpPr txBox="1"/>
          <p:nvPr/>
        </p:nvSpPr>
        <p:spPr>
          <a:xfrm>
            <a:off x="5541264" y="2898648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Calibri"/>
              </a:rPr>
              <a:t>radius r</a:t>
            </a:r>
          </a:p>
        </p:txBody>
      </p:sp>
      <p:sp>
        <p:nvSpPr>
          <p:cNvPr id="355" name="TextBox 354"/>
          <p:cNvSpPr txBox="1"/>
          <p:nvPr/>
        </p:nvSpPr>
        <p:spPr>
          <a:xfrm>
            <a:off x="6318504" y="1911096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E08043"/>
                </a:solidFill>
                <a:latin typeface="Calibri"/>
              </a:rPr>
              <a:t>rare prototype</a:t>
            </a:r>
          </a:p>
        </p:txBody>
      </p:sp>
      <p:sp>
        <p:nvSpPr>
          <p:cNvPr id="356" name="TextBox 355"/>
          <p:cNvSpPr txBox="1"/>
          <p:nvPr/>
        </p:nvSpPr>
        <p:spPr>
          <a:xfrm>
            <a:off x="4946904" y="3191256"/>
            <a:ext cx="822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C3E50"/>
                </a:solidFill>
                <a:latin typeface="Calibri"/>
              </a:rPr>
              <a:t>prototype</a:t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4352544" y="3566160"/>
            <a:ext cx="36393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  <a:latin typeface="Calibri"/>
              </a:rPr>
              <a:t>S = d(rare, nearest majority) / mean intra-rare radius</a:t>
            </a:r>
          </a:p>
        </p:txBody>
      </p:sp>
      <p:sp>
        <p:nvSpPr>
          <p:cNvPr id="358" name="Rectangle 357"/>
          <p:cNvSpPr/>
          <p:nvPr/>
        </p:nvSpPr>
        <p:spPr>
          <a:xfrm>
            <a:off x="4261104" y="4023359"/>
            <a:ext cx="3822192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TextBox 358"/>
          <p:cNvSpPr txBox="1"/>
          <p:nvPr/>
        </p:nvSpPr>
        <p:spPr>
          <a:xfrm>
            <a:off x="4352544" y="4069079"/>
            <a:ext cx="36393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C3E50"/>
                </a:solidFill>
                <a:latin typeface="Calibri"/>
              </a:rPr>
              <a:t>D · Candidate filtering</a:t>
            </a:r>
          </a:p>
        </p:txBody>
      </p:sp>
      <p:sp>
        <p:nvSpPr>
          <p:cNvPr id="360" name="TextBox 359"/>
          <p:cNvSpPr txBox="1"/>
          <p:nvPr/>
        </p:nvSpPr>
        <p:spPr>
          <a:xfrm>
            <a:off x="4352544" y="4270248"/>
            <a:ext cx="3639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Calibri"/>
              </a:rPr>
              <a:t>cells whose nearest prototype is the rare class become candidates</a:t>
            </a:r>
          </a:p>
        </p:txBody>
      </p:sp>
      <p:sp>
        <p:nvSpPr>
          <p:cNvPr id="361" name="Freeform 360"/>
          <p:cNvSpPr/>
          <p:nvPr/>
        </p:nvSpPr>
        <p:spPr>
          <a:xfrm>
            <a:off x="914400" y="0"/>
            <a:ext cx="4147190791200" cy="4138829517600"/>
          </a:xfrm>
          <a:custGeom>
            <a:avLst/>
            <a:gdLst/>
            <a:ahLst/>
            <a:cxnLst/>
            <a:rect l="l" t="t" r="r" b="b"/>
            <a:pathLst>
              <a:path w="4535423" h="4526279">
                <a:moveTo>
                  <a:pt x="4535423" y="4526279"/>
                </a:moveTo>
                <a:lnTo>
                  <a:pt x="2" y="0"/>
                </a:lnTo>
                <a:close/>
                <a:lnTo>
                  <a:pt x="1" y="1"/>
                </a:lnTo>
                <a:close/>
                <a:lnTo>
                  <a:pt x="0" y="1"/>
                </a:lnTo>
                <a:close/>
              </a:path>
            </a:pathLst>
          </a:custGeom>
          <a:solidFill>
            <a:srgbClr val="FAFBFC">
              <a:alpha val="100000"/>
            </a:srgbClr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Freeform 361"/>
          <p:cNvSpPr/>
          <p:nvPr/>
        </p:nvSpPr>
        <p:spPr>
          <a:xfrm>
            <a:off x="0" y="0"/>
            <a:ext cx="4690674489600" cy="5058569613600"/>
          </a:xfrm>
          <a:custGeom>
            <a:avLst/>
            <a:gdLst/>
            <a:ahLst/>
            <a:cxnLst/>
            <a:rect l="l" t="t" r="r" b="b"/>
            <a:pathLst>
              <a:path w="5129784" h="5532119">
                <a:moveTo>
                  <a:pt x="5129784" y="5532119"/>
                </a:moveTo>
                <a:lnTo>
                  <a:pt x="1" y="0"/>
                </a:lnTo>
                <a:close/>
                <a:lnTo>
                  <a:pt x="1" y="1"/>
                </a:lnTo>
                <a:close/>
                <a:lnTo>
                  <a:pt x="0" y="1"/>
                </a:lnTo>
                <a:close/>
              </a:path>
            </a:pathLst>
          </a:custGeom>
          <a:solidFill>
            <a:srgbClr val="FAFBFC">
              <a:alpha val="100000"/>
            </a:srgbClr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5627802" y="5037689"/>
            <a:ext cx="41148" cy="41148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6740923" y="4955926"/>
            <a:ext cx="41148" cy="41148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5758644" y="5061675"/>
            <a:ext cx="41148" cy="41148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4996211" y="4996110"/>
            <a:ext cx="41148" cy="41148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6046559" y="5240269"/>
            <a:ext cx="41148" cy="41148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4782621" y="4814984"/>
            <a:ext cx="41148" cy="41148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4774475" y="5254748"/>
            <a:ext cx="41148" cy="41148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6196496" y="4587806"/>
            <a:ext cx="41148" cy="41148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6877713" y="5389491"/>
            <a:ext cx="41148" cy="41148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6103272" y="5086153"/>
            <a:ext cx="41148" cy="41148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4932122" y="4564456"/>
            <a:ext cx="41148" cy="41148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5807101" y="4603156"/>
            <a:ext cx="41148" cy="41148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5009300" y="4761597"/>
            <a:ext cx="41148" cy="41148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4631539" y="4954436"/>
            <a:ext cx="41148" cy="41148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5599849" y="5283225"/>
            <a:ext cx="41148" cy="41148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5785262" y="5107634"/>
            <a:ext cx="41148" cy="41148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5739610" y="5126882"/>
            <a:ext cx="41148" cy="41148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5639480" y="4793060"/>
            <a:ext cx="41148" cy="41148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6914192" y="5416363"/>
            <a:ext cx="41148" cy="41148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6542766" y="5166286"/>
            <a:ext cx="41148" cy="41148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5304356" y="4750932"/>
            <a:ext cx="41148" cy="41148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5242459" y="4612427"/>
            <a:ext cx="41148" cy="41148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6368359" y="4899245"/>
            <a:ext cx="41148" cy="41148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6557789" y="4887182"/>
            <a:ext cx="41148" cy="41148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6820737" y="5287467"/>
            <a:ext cx="41148" cy="41148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4561855" y="4733603"/>
            <a:ext cx="41148" cy="41148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6708039" y="4959694"/>
            <a:ext cx="41148" cy="41148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6873385" y="4896660"/>
            <a:ext cx="41148" cy="41148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4732878" y="5098220"/>
            <a:ext cx="41148" cy="41148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6397195" y="4785774"/>
            <a:ext cx="41148" cy="41148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4766156" y="4840336"/>
            <a:ext cx="41148" cy="41148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6834972" y="5209920"/>
            <a:ext cx="41148" cy="41148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4838930" y="4765458"/>
            <a:ext cx="41148" cy="41148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4798953" y="4603454"/>
            <a:ext cx="41148" cy="41148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6440864" y="4705771"/>
            <a:ext cx="41148" cy="41148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5880032" y="4940095"/>
            <a:ext cx="41148" cy="41148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5239512" y="4773167"/>
            <a:ext cx="54864" cy="54864"/>
          </a:xfrm>
          <a:prstGeom prst="ellipse">
            <a:avLst/>
          </a:prstGeom>
          <a:solidFill>
            <a:srgbClr val="E08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5788152" y="5001768"/>
            <a:ext cx="54864" cy="54864"/>
          </a:xfrm>
          <a:prstGeom prst="ellipse">
            <a:avLst/>
          </a:prstGeom>
          <a:solidFill>
            <a:srgbClr val="E08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5513832" y="5276087"/>
            <a:ext cx="54864" cy="54864"/>
          </a:xfrm>
          <a:prstGeom prst="ellipse">
            <a:avLst/>
          </a:prstGeom>
          <a:solidFill>
            <a:srgbClr val="E08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5374386" y="5868162"/>
            <a:ext cx="59436" cy="59436"/>
          </a:xfrm>
          <a:prstGeom prst="ellipse">
            <a:avLst/>
          </a:prstGeom>
          <a:solidFill>
            <a:srgbClr val="E08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5740146" y="6005321"/>
            <a:ext cx="59436" cy="59436"/>
          </a:xfrm>
          <a:prstGeom prst="ellipse">
            <a:avLst/>
          </a:prstGeom>
          <a:solidFill>
            <a:srgbClr val="E08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6105906" y="5868162"/>
            <a:ext cx="59436" cy="59436"/>
          </a:xfrm>
          <a:prstGeom prst="ellipse">
            <a:avLst/>
          </a:prstGeom>
          <a:solidFill>
            <a:srgbClr val="E08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6471666" y="6005321"/>
            <a:ext cx="59436" cy="59436"/>
          </a:xfrm>
          <a:prstGeom prst="ellipse">
            <a:avLst/>
          </a:prstGeom>
          <a:solidFill>
            <a:srgbClr val="E08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5564124" y="6012179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6295644" y="5875019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8" name="Connector 407"/>
          <p:cNvCxnSpPr/>
          <p:nvPr/>
        </p:nvCxnSpPr>
        <p:spPr>
          <a:xfrm>
            <a:off x="6986016" y="4709159"/>
            <a:ext cx="91440" cy="0"/>
          </a:xfrm>
          <a:prstGeom prst="line">
            <a:avLst/>
          </a:prstGeom>
          <a:ln w="1016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9" name="TextBox 408"/>
          <p:cNvSpPr txBox="1"/>
          <p:nvPr/>
        </p:nvSpPr>
        <p:spPr>
          <a:xfrm>
            <a:off x="7095744" y="461772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Calibri"/>
              </a:rPr>
              <a:t>nearest prototype</a:t>
            </a:r>
          </a:p>
        </p:txBody>
      </p:sp>
      <p:cxnSp>
        <p:nvCxnSpPr>
          <p:cNvPr id="410" name="Connector 409"/>
          <p:cNvCxnSpPr/>
          <p:nvPr/>
        </p:nvCxnSpPr>
        <p:spPr>
          <a:xfrm>
            <a:off x="6986016" y="5120640"/>
            <a:ext cx="91440" cy="0"/>
          </a:xfrm>
          <a:prstGeom prst="line">
            <a:avLst/>
          </a:prstGeom>
          <a:ln w="1016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1" name="TextBox 410"/>
          <p:cNvSpPr txBox="1"/>
          <p:nvPr/>
        </p:nvSpPr>
        <p:spPr>
          <a:xfrm>
            <a:off x="7095744" y="502920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Calibri"/>
              </a:rPr>
              <a:t>rank / margin</a:t>
            </a:r>
          </a:p>
        </p:txBody>
      </p:sp>
      <p:cxnSp>
        <p:nvCxnSpPr>
          <p:cNvPr id="412" name="Connector 411"/>
          <p:cNvCxnSpPr/>
          <p:nvPr/>
        </p:nvCxnSpPr>
        <p:spPr>
          <a:xfrm>
            <a:off x="6986016" y="5532120"/>
            <a:ext cx="91440" cy="0"/>
          </a:xfrm>
          <a:prstGeom prst="line">
            <a:avLst/>
          </a:prstGeom>
          <a:ln w="1016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3" name="TextBox 412"/>
          <p:cNvSpPr txBox="1"/>
          <p:nvPr/>
        </p:nvSpPr>
        <p:spPr>
          <a:xfrm>
            <a:off x="7095744" y="544068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Calibri"/>
              </a:rPr>
              <a:t>safety check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4535424" y="4343399"/>
            <a:ext cx="32735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Calibri"/>
              </a:rPr>
              <a:t>all unlabelled / mis-predicted cells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4535424" y="6492240"/>
            <a:ext cx="32735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  <a:latin typeface="Calibri"/>
              </a:rPr>
              <a:t>candidate cells</a:t>
            </a:r>
          </a:p>
        </p:txBody>
      </p:sp>
      <p:sp>
        <p:nvSpPr>
          <p:cNvPr id="416" name="Rectangle 415"/>
          <p:cNvSpPr/>
          <p:nvPr/>
        </p:nvSpPr>
        <p:spPr>
          <a:xfrm>
            <a:off x="8247888" y="1115568"/>
            <a:ext cx="3822192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TextBox 416"/>
          <p:cNvSpPr txBox="1"/>
          <p:nvPr/>
        </p:nvSpPr>
        <p:spPr>
          <a:xfrm>
            <a:off x="8339328" y="1161288"/>
            <a:ext cx="36393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C3E50"/>
                </a:solidFill>
                <a:latin typeface="Calibri"/>
              </a:rPr>
              <a:t>E · Membership score and conformal τ</a:t>
            </a:r>
          </a:p>
        </p:txBody>
      </p:sp>
      <p:sp>
        <p:nvSpPr>
          <p:cNvPr id="418" name="TextBox 417"/>
          <p:cNvSpPr txBox="1"/>
          <p:nvPr/>
        </p:nvSpPr>
        <p:spPr>
          <a:xfrm>
            <a:off x="8339328" y="1362456"/>
            <a:ext cx="3639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Calibri"/>
              </a:rPr>
              <a:t>validation distribution of rare-membership scores, calibrated to FFR ≤ α</a:t>
            </a:r>
          </a:p>
        </p:txBody>
      </p:sp>
      <p:cxnSp>
        <p:nvCxnSpPr>
          <p:cNvPr id="419" name="Connector 418"/>
          <p:cNvCxnSpPr/>
          <p:nvPr/>
        </p:nvCxnSpPr>
        <p:spPr>
          <a:xfrm>
            <a:off x="8750808" y="3355848"/>
            <a:ext cx="3090672" cy="0"/>
          </a:xfrm>
          <a:prstGeom prst="line">
            <a:avLst/>
          </a:prstGeom>
          <a:ln w="9525">
            <a:solidFill>
              <a:srgbClr val="9AA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 419"/>
          <p:cNvCxnSpPr/>
          <p:nvPr/>
        </p:nvCxnSpPr>
        <p:spPr>
          <a:xfrm>
            <a:off x="8750808" y="1709928"/>
            <a:ext cx="0" cy="1645920"/>
          </a:xfrm>
          <a:prstGeom prst="line">
            <a:avLst/>
          </a:prstGeom>
          <a:ln w="9525">
            <a:solidFill>
              <a:srgbClr val="9AA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1" name="TextBox 420"/>
          <p:cNvSpPr txBox="1"/>
          <p:nvPr/>
        </p:nvSpPr>
        <p:spPr>
          <a:xfrm>
            <a:off x="8750808" y="3401568"/>
            <a:ext cx="30906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  <a:latin typeface="Calibri"/>
              </a:rPr>
              <a:t>rare membership score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8247888" y="2441448"/>
            <a:ext cx="411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Calibri"/>
              </a:rPr>
              <a:t>density</a:t>
            </a:r>
          </a:p>
        </p:txBody>
      </p:sp>
      <p:sp>
        <p:nvSpPr>
          <p:cNvPr id="423" name="Freeform 422"/>
          <p:cNvSpPr/>
          <p:nvPr/>
        </p:nvSpPr>
        <p:spPr>
          <a:xfrm>
            <a:off x="0" y="0"/>
            <a:ext cx="8001738835200" cy="3068587411200"/>
          </a:xfrm>
          <a:custGeom>
            <a:avLst/>
            <a:gdLst/>
            <a:ahLst/>
            <a:cxnLst/>
            <a:rect l="l" t="t" r="r" b="b"/>
            <a:pathLst>
              <a:path w="8750808" h="3355848">
                <a:moveTo>
                  <a:pt x="8750808" y="3355848"/>
                </a:moveTo>
                <a:lnTo>
                  <a:pt x="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  <a:lnTo>
                  <a:pt x="0" y="1"/>
                </a:lnTo>
                <a:close/>
                <a:lnTo>
                  <a:pt x="0" y="1"/>
                </a:lnTo>
                <a:close/>
                <a:lnTo>
                  <a:pt x="0" y="1"/>
                </a:lnTo>
                <a:close/>
                <a:lnTo>
                  <a:pt x="1" y="1"/>
                </a:lnTo>
                <a:close/>
                <a:lnTo>
                  <a:pt x="1" y="1"/>
                </a:lnTo>
                <a:close/>
                <a:lnTo>
                  <a:pt x="1" y="1"/>
                </a:lnTo>
                <a:close/>
                <a:lnTo>
                  <a:pt x="1" y="1"/>
                </a:lnTo>
                <a:close/>
                <a:lnTo>
                  <a:pt x="1" y="1"/>
                </a:lnTo>
                <a:close/>
                <a:lnTo>
                  <a:pt x="1" y="2"/>
                </a:lnTo>
                <a:close/>
                <a:lnTo>
                  <a:pt x="1" y="2"/>
                </a:lnTo>
                <a:close/>
                <a:lnTo>
                  <a:pt x="1" y="2"/>
                </a:lnTo>
                <a:close/>
                <a:lnTo>
                  <a:pt x="1" y="1"/>
                </a:lnTo>
                <a:close/>
                <a:lnTo>
                  <a:pt x="1" y="1"/>
                </a:lnTo>
                <a:close/>
                <a:lnTo>
                  <a:pt x="1" y="1"/>
                </a:lnTo>
                <a:close/>
                <a:lnTo>
                  <a:pt x="1" y="1"/>
                </a:lnTo>
                <a:close/>
                <a:lnTo>
                  <a:pt x="2" y="1"/>
                </a:lnTo>
                <a:close/>
                <a:lnTo>
                  <a:pt x="2" y="1"/>
                </a:lnTo>
                <a:close/>
                <a:lnTo>
                  <a:pt x="2" y="1"/>
                </a:lnTo>
                <a:close/>
                <a:lnTo>
                  <a:pt x="2" y="1"/>
                </a:lnTo>
                <a:close/>
                <a:lnTo>
                  <a:pt x="2" y="0"/>
                </a:lnTo>
                <a:close/>
                <a:lnTo>
                  <a:pt x="2" y="0"/>
                </a:lnTo>
                <a:close/>
                <a:lnTo>
                  <a:pt x="2" y="0"/>
                </a:lnTo>
                <a:close/>
                <a:lnTo>
                  <a:pt x="2" y="0"/>
                </a:lnTo>
                <a:close/>
                <a:lnTo>
                  <a:pt x="2" y="0"/>
                </a:lnTo>
                <a:close/>
                <a:lnTo>
                  <a:pt x="2" y="0"/>
                </a:lnTo>
                <a:close/>
                <a:lnTo>
                  <a:pt x="2" y="0"/>
                </a:lnTo>
                <a:close/>
                <a:lnTo>
                  <a:pt x="2" y="0"/>
                </a:lnTo>
                <a:close/>
                <a:lnTo>
                  <a:pt x="3" y="0"/>
                </a:lnTo>
                <a:close/>
                <a:lnTo>
                  <a:pt x="3" y="0"/>
                </a:lnTo>
                <a:close/>
              </a:path>
            </a:pathLst>
          </a:custGeom>
          <a:solidFill>
            <a:srgbClr val="C7CDD4">
              <a:alpha val="60000"/>
            </a:srgbClr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Freeform 423"/>
          <p:cNvSpPr/>
          <p:nvPr/>
        </p:nvSpPr>
        <p:spPr>
          <a:xfrm>
            <a:off x="0" y="0"/>
            <a:ext cx="9556099048800" cy="3068587411200"/>
          </a:xfrm>
          <a:custGeom>
            <a:avLst/>
            <a:gdLst/>
            <a:ahLst/>
            <a:cxnLst/>
            <a:rect l="l" t="t" r="r" b="b"/>
            <a:pathLst>
              <a:path w="10450677" h="3355848">
                <a:moveTo>
                  <a:pt x="10450677" y="3355848"/>
                </a:moveTo>
                <a:lnTo>
                  <a:pt x="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  <a:lnTo>
                  <a:pt x="1" y="0"/>
                </a:lnTo>
                <a:close/>
                <a:lnTo>
                  <a:pt x="1" y="1"/>
                </a:lnTo>
                <a:close/>
                <a:lnTo>
                  <a:pt x="1" y="1"/>
                </a:lnTo>
                <a:close/>
                <a:lnTo>
                  <a:pt x="1" y="1"/>
                </a:lnTo>
                <a:close/>
                <a:lnTo>
                  <a:pt x="1" y="1"/>
                </a:lnTo>
                <a:close/>
                <a:lnTo>
                  <a:pt x="1" y="1"/>
                </a:lnTo>
                <a:close/>
                <a:lnTo>
                  <a:pt x="1" y="1"/>
                </a:lnTo>
                <a:close/>
                <a:lnTo>
                  <a:pt x="1" y="1"/>
                </a:lnTo>
                <a:close/>
                <a:lnTo>
                  <a:pt x="1" y="1"/>
                </a:lnTo>
                <a:close/>
                <a:lnTo>
                  <a:pt x="1" y="1"/>
                </a:lnTo>
                <a:close/>
                <a:lnTo>
                  <a:pt x="1" y="1"/>
                </a:lnTo>
                <a:close/>
                <a:lnTo>
                  <a:pt x="1" y="1"/>
                </a:lnTo>
                <a:close/>
                <a:lnTo>
                  <a:pt x="1" y="1"/>
                </a:lnTo>
                <a:close/>
                <a:lnTo>
                  <a:pt x="1" y="1"/>
                </a:lnTo>
                <a:close/>
                <a:lnTo>
                  <a:pt x="1" y="0"/>
                </a:lnTo>
                <a:close/>
                <a:lnTo>
                  <a:pt x="1" y="0"/>
                </a:lnTo>
                <a:close/>
                <a:lnTo>
                  <a:pt x="2" y="0"/>
                </a:lnTo>
                <a:close/>
                <a:lnTo>
                  <a:pt x="2" y="0"/>
                </a:lnTo>
                <a:close/>
              </a:path>
            </a:pathLst>
          </a:custGeom>
          <a:solidFill>
            <a:srgbClr val="E08043">
              <a:alpha val="55000"/>
            </a:srgbClr>
          </a:solidFill>
          <a:ln w="9525">
            <a:solidFill>
              <a:srgbClr val="E08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5" name="Connector 424"/>
          <p:cNvCxnSpPr/>
          <p:nvPr/>
        </p:nvCxnSpPr>
        <p:spPr>
          <a:xfrm>
            <a:off x="10976091" y="1709928"/>
            <a:ext cx="0" cy="1645920"/>
          </a:xfrm>
          <a:prstGeom prst="line">
            <a:avLst/>
          </a:prstGeom>
          <a:ln w="20320">
            <a:solidFill>
              <a:srgbClr val="C0392B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6" name="TextBox 425"/>
          <p:cNvSpPr txBox="1"/>
          <p:nvPr/>
        </p:nvSpPr>
        <p:spPr>
          <a:xfrm>
            <a:off x="11021811" y="1709928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Calibri"/>
              </a:rPr>
              <a:t>τ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11021811" y="1911096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C0392B"/>
                </a:solidFill>
                <a:latin typeface="Calibri"/>
              </a:rPr>
              <a:t>calibrated threshold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11021811" y="207568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C0392B"/>
                </a:solidFill>
                <a:latin typeface="Calibri"/>
              </a:rPr>
              <a:t>α = 0.01</a:t>
            </a:r>
          </a:p>
        </p:txBody>
      </p:sp>
      <p:sp>
        <p:nvSpPr>
          <p:cNvPr id="429" name="Rectangle 428"/>
          <p:cNvSpPr/>
          <p:nvPr/>
        </p:nvSpPr>
        <p:spPr>
          <a:xfrm>
            <a:off x="8750808" y="1527048"/>
            <a:ext cx="118872" cy="109728"/>
          </a:xfrm>
          <a:prstGeom prst="rect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TextBox 429"/>
          <p:cNvSpPr txBox="1"/>
          <p:nvPr/>
        </p:nvSpPr>
        <p:spPr>
          <a:xfrm>
            <a:off x="8915400" y="1508760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Calibri"/>
              </a:rPr>
              <a:t>non-rare val cells</a:t>
            </a:r>
          </a:p>
        </p:txBody>
      </p:sp>
      <p:sp>
        <p:nvSpPr>
          <p:cNvPr id="431" name="Rectangle 430"/>
          <p:cNvSpPr/>
          <p:nvPr/>
        </p:nvSpPr>
        <p:spPr>
          <a:xfrm>
            <a:off x="10122408" y="1527048"/>
            <a:ext cx="118872" cy="109728"/>
          </a:xfrm>
          <a:prstGeom prst="rect">
            <a:avLst/>
          </a:prstGeom>
          <a:solidFill>
            <a:srgbClr val="E08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TextBox 431"/>
          <p:cNvSpPr txBox="1"/>
          <p:nvPr/>
        </p:nvSpPr>
        <p:spPr>
          <a:xfrm>
            <a:off x="10287000" y="1508760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Calibri"/>
              </a:rPr>
              <a:t>rare val cells</a:t>
            </a:r>
          </a:p>
        </p:txBody>
      </p:sp>
      <p:sp>
        <p:nvSpPr>
          <p:cNvPr id="433" name="Rectangle 432"/>
          <p:cNvSpPr/>
          <p:nvPr/>
        </p:nvSpPr>
        <p:spPr>
          <a:xfrm>
            <a:off x="8247888" y="4023359"/>
            <a:ext cx="3822192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TextBox 433"/>
          <p:cNvSpPr txBox="1"/>
          <p:nvPr/>
        </p:nvSpPr>
        <p:spPr>
          <a:xfrm>
            <a:off x="8339328" y="4069079"/>
            <a:ext cx="36393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C3E50"/>
                </a:solidFill>
                <a:latin typeface="Calibri"/>
              </a:rPr>
              <a:t>F · Refined prediction</a:t>
            </a:r>
          </a:p>
        </p:txBody>
      </p:sp>
      <p:sp>
        <p:nvSpPr>
          <p:cNvPr id="435" name="TextBox 434"/>
          <p:cNvSpPr txBox="1"/>
          <p:nvPr/>
        </p:nvSpPr>
        <p:spPr>
          <a:xfrm>
            <a:off x="8339328" y="4270248"/>
            <a:ext cx="3639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Calibri"/>
              </a:rPr>
              <a:t>candidates with score ≥ τ are relabelled to the rare class</a:t>
            </a:r>
          </a:p>
        </p:txBody>
      </p:sp>
      <p:sp>
        <p:nvSpPr>
          <p:cNvPr id="436" name="TextBox 435"/>
          <p:cNvSpPr txBox="1"/>
          <p:nvPr/>
        </p:nvSpPr>
        <p:spPr>
          <a:xfrm>
            <a:off x="8476488" y="4416552"/>
            <a:ext cx="154533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2C3E50"/>
                </a:solidFill>
                <a:latin typeface="Calibri"/>
              </a:rPr>
              <a:t>before (baseline)</a:t>
            </a:r>
          </a:p>
        </p:txBody>
      </p:sp>
      <p:sp>
        <p:nvSpPr>
          <p:cNvPr id="437" name="Rectangle 436"/>
          <p:cNvSpPr/>
          <p:nvPr/>
        </p:nvSpPr>
        <p:spPr>
          <a:xfrm>
            <a:off x="8476488" y="4617720"/>
            <a:ext cx="1545336" cy="1737360"/>
          </a:xfrm>
          <a:prstGeom prst="rect">
            <a:avLst/>
          </a:prstGeom>
          <a:solidFill>
            <a:srgbClr val="FAFBFC"/>
          </a:solidFill>
          <a:ln w="6350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8" name="Connector 437"/>
          <p:cNvCxnSpPr/>
          <p:nvPr/>
        </p:nvCxnSpPr>
        <p:spPr>
          <a:xfrm>
            <a:off x="8567928" y="6309359"/>
            <a:ext cx="1408176" cy="0"/>
          </a:xfrm>
          <a:prstGeom prst="line">
            <a:avLst/>
          </a:prstGeom>
          <a:ln w="6350">
            <a:solidFill>
              <a:srgbClr val="9AA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>
            <a:off x="8567928" y="4663440"/>
            <a:ext cx="0" cy="1645919"/>
          </a:xfrm>
          <a:prstGeom prst="line">
            <a:avLst/>
          </a:prstGeom>
          <a:ln w="6350">
            <a:solidFill>
              <a:srgbClr val="9AA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0" name="TextBox 439"/>
          <p:cNvSpPr txBox="1"/>
          <p:nvPr/>
        </p:nvSpPr>
        <p:spPr>
          <a:xfrm>
            <a:off x="10296144" y="4416552"/>
            <a:ext cx="154533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2C3E50"/>
                </a:solidFill>
                <a:latin typeface="Calibri"/>
              </a:rPr>
              <a:t>after (rescued)</a:t>
            </a:r>
          </a:p>
        </p:txBody>
      </p:sp>
      <p:sp>
        <p:nvSpPr>
          <p:cNvPr id="441" name="Rectangle 440"/>
          <p:cNvSpPr/>
          <p:nvPr/>
        </p:nvSpPr>
        <p:spPr>
          <a:xfrm>
            <a:off x="10296144" y="4617720"/>
            <a:ext cx="1545336" cy="1737360"/>
          </a:xfrm>
          <a:prstGeom prst="rect">
            <a:avLst/>
          </a:prstGeom>
          <a:solidFill>
            <a:srgbClr val="FAFBFC"/>
          </a:solidFill>
          <a:ln w="6350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2" name="Connector 441"/>
          <p:cNvCxnSpPr/>
          <p:nvPr/>
        </p:nvCxnSpPr>
        <p:spPr>
          <a:xfrm>
            <a:off x="10387584" y="6309359"/>
            <a:ext cx="1408176" cy="0"/>
          </a:xfrm>
          <a:prstGeom prst="line">
            <a:avLst/>
          </a:prstGeom>
          <a:ln w="6350">
            <a:solidFill>
              <a:srgbClr val="9AA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>
            <a:off x="10387584" y="4663440"/>
            <a:ext cx="0" cy="1645919"/>
          </a:xfrm>
          <a:prstGeom prst="line">
            <a:avLst/>
          </a:prstGeom>
          <a:ln w="6350">
            <a:solidFill>
              <a:srgbClr val="9AA0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4" name="Oval 443"/>
          <p:cNvSpPr/>
          <p:nvPr/>
        </p:nvSpPr>
        <p:spPr>
          <a:xfrm>
            <a:off x="8967106" y="5634685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8868884" y="5495572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8941290" y="5661369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8944508" y="5478698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8870281" y="5548907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8978857" y="5551639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8896382" y="5538015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8929860" y="5505618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Oval 451"/>
          <p:cNvSpPr/>
          <p:nvPr/>
        </p:nvSpPr>
        <p:spPr>
          <a:xfrm>
            <a:off x="8919271" y="5569123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9022081" y="5548801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8979855" y="5487812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8973094" y="5562553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9487237" y="5976915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9655138" y="6014202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9469262" y="6010222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Oval 458"/>
          <p:cNvSpPr/>
          <p:nvPr/>
        </p:nvSpPr>
        <p:spPr>
          <a:xfrm>
            <a:off x="9428762" y="5943605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9488720" y="5959267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9504679" y="5972626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9355692" y="5909218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Oval 462"/>
          <p:cNvSpPr/>
          <p:nvPr/>
        </p:nvSpPr>
        <p:spPr>
          <a:xfrm>
            <a:off x="9408835" y="5870400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Oval 463"/>
          <p:cNvSpPr/>
          <p:nvPr/>
        </p:nvSpPr>
        <p:spPr>
          <a:xfrm>
            <a:off x="9453598" y="5968054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Oval 464"/>
          <p:cNvSpPr/>
          <p:nvPr/>
        </p:nvSpPr>
        <p:spPr>
          <a:xfrm>
            <a:off x="9511899" y="5935086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Oval 465"/>
          <p:cNvSpPr/>
          <p:nvPr/>
        </p:nvSpPr>
        <p:spPr>
          <a:xfrm>
            <a:off x="9298990" y="4937759"/>
            <a:ext cx="54864" cy="54864"/>
          </a:xfrm>
          <a:prstGeom prst="ellipse">
            <a:avLst/>
          </a:prstGeom>
          <a:solidFill>
            <a:srgbClr val="E08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Oval 466"/>
          <p:cNvSpPr/>
          <p:nvPr/>
        </p:nvSpPr>
        <p:spPr>
          <a:xfrm>
            <a:off x="9453524" y="5024627"/>
            <a:ext cx="54864" cy="54864"/>
          </a:xfrm>
          <a:prstGeom prst="ellipse">
            <a:avLst/>
          </a:prstGeom>
          <a:solidFill>
            <a:srgbClr val="E08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9067190" y="4798771"/>
            <a:ext cx="54864" cy="54864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xfrm>
            <a:off x="9190817" y="4903012"/>
            <a:ext cx="54864" cy="54864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Oval 469"/>
          <p:cNvSpPr/>
          <p:nvPr/>
        </p:nvSpPr>
        <p:spPr>
          <a:xfrm>
            <a:off x="9005376" y="4937759"/>
            <a:ext cx="54864" cy="54864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TextBox 470"/>
          <p:cNvSpPr txBox="1"/>
          <p:nvPr/>
        </p:nvSpPr>
        <p:spPr>
          <a:xfrm>
            <a:off x="8567928" y="6080759"/>
            <a:ext cx="13624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7F8C8D"/>
                </a:solidFill>
                <a:latin typeface="Calibri"/>
              </a:rPr>
              <a:t>3 rare missed</a:t>
            </a:r>
          </a:p>
        </p:txBody>
      </p:sp>
      <p:cxnSp>
        <p:nvCxnSpPr>
          <p:cNvPr id="472" name="Connector 471"/>
          <p:cNvCxnSpPr/>
          <p:nvPr/>
        </p:nvCxnSpPr>
        <p:spPr>
          <a:xfrm>
            <a:off x="10076688" y="5486400"/>
            <a:ext cx="164592" cy="0"/>
          </a:xfrm>
          <a:prstGeom prst="line">
            <a:avLst/>
          </a:prstGeom>
          <a:ln w="1778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3" name="TextBox 472"/>
          <p:cNvSpPr txBox="1"/>
          <p:nvPr/>
        </p:nvSpPr>
        <p:spPr>
          <a:xfrm>
            <a:off x="10067544" y="5285232"/>
            <a:ext cx="182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Calibri"/>
              </a:rPr>
              <a:t>conformal</a:t>
            </a:r>
          </a:p>
        </p:txBody>
      </p:sp>
      <p:sp>
        <p:nvSpPr>
          <p:cNvPr id="474" name="TextBox 473"/>
          <p:cNvSpPr txBox="1"/>
          <p:nvPr/>
        </p:nvSpPr>
        <p:spPr>
          <a:xfrm>
            <a:off x="10067544" y="5559552"/>
            <a:ext cx="182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Calibri"/>
              </a:rPr>
              <a:t>rescue</a:t>
            </a:r>
          </a:p>
        </p:txBody>
      </p:sp>
      <p:sp>
        <p:nvSpPr>
          <p:cNvPr id="475" name="Oval 474"/>
          <p:cNvSpPr/>
          <p:nvPr/>
        </p:nvSpPr>
        <p:spPr>
          <a:xfrm>
            <a:off x="10875781" y="5479488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Oval 475"/>
          <p:cNvSpPr/>
          <p:nvPr/>
        </p:nvSpPr>
        <p:spPr>
          <a:xfrm>
            <a:off x="10757744" y="5533681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Oval 476"/>
          <p:cNvSpPr/>
          <p:nvPr/>
        </p:nvSpPr>
        <p:spPr>
          <a:xfrm>
            <a:off x="10680604" y="5513677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Oval 477"/>
          <p:cNvSpPr/>
          <p:nvPr/>
        </p:nvSpPr>
        <p:spPr>
          <a:xfrm>
            <a:off x="10703664" y="5544051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Oval 478"/>
          <p:cNvSpPr/>
          <p:nvPr/>
        </p:nvSpPr>
        <p:spPr>
          <a:xfrm>
            <a:off x="10761625" y="5615262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Oval 479"/>
          <p:cNvSpPr/>
          <p:nvPr/>
        </p:nvSpPr>
        <p:spPr>
          <a:xfrm>
            <a:off x="10749647" y="5619770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Oval 480"/>
          <p:cNvSpPr/>
          <p:nvPr/>
        </p:nvSpPr>
        <p:spPr>
          <a:xfrm>
            <a:off x="10763664" y="5554609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Oval 481"/>
          <p:cNvSpPr/>
          <p:nvPr/>
        </p:nvSpPr>
        <p:spPr>
          <a:xfrm>
            <a:off x="10720240" y="5485568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Oval 482"/>
          <p:cNvSpPr/>
          <p:nvPr/>
        </p:nvSpPr>
        <p:spPr>
          <a:xfrm>
            <a:off x="10633013" y="5542145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Oval 483"/>
          <p:cNvSpPr/>
          <p:nvPr/>
        </p:nvSpPr>
        <p:spPr>
          <a:xfrm>
            <a:off x="10722943" y="5567477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Oval 484"/>
          <p:cNvSpPr/>
          <p:nvPr/>
        </p:nvSpPr>
        <p:spPr>
          <a:xfrm>
            <a:off x="10754513" y="5466876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Oval 485"/>
          <p:cNvSpPr/>
          <p:nvPr/>
        </p:nvSpPr>
        <p:spPr>
          <a:xfrm>
            <a:off x="10688126" y="5475759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Oval 486"/>
          <p:cNvSpPr/>
          <p:nvPr/>
        </p:nvSpPr>
        <p:spPr>
          <a:xfrm>
            <a:off x="11253140" y="5882674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Oval 487"/>
          <p:cNvSpPr/>
          <p:nvPr/>
        </p:nvSpPr>
        <p:spPr>
          <a:xfrm>
            <a:off x="11358215" y="6163229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Oval 488"/>
          <p:cNvSpPr/>
          <p:nvPr/>
        </p:nvSpPr>
        <p:spPr>
          <a:xfrm>
            <a:off x="11305896" y="6061548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Oval 489"/>
          <p:cNvSpPr/>
          <p:nvPr/>
        </p:nvSpPr>
        <p:spPr>
          <a:xfrm>
            <a:off x="11355194" y="6035122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Oval 490"/>
          <p:cNvSpPr/>
          <p:nvPr/>
        </p:nvSpPr>
        <p:spPr>
          <a:xfrm>
            <a:off x="11327681" y="6054664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Oval 491"/>
          <p:cNvSpPr/>
          <p:nvPr/>
        </p:nvSpPr>
        <p:spPr>
          <a:xfrm>
            <a:off x="11262806" y="5892449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Oval 492"/>
          <p:cNvSpPr/>
          <p:nvPr/>
        </p:nvSpPr>
        <p:spPr>
          <a:xfrm>
            <a:off x="11175173" y="6024337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Oval 493"/>
          <p:cNvSpPr/>
          <p:nvPr/>
        </p:nvSpPr>
        <p:spPr>
          <a:xfrm>
            <a:off x="11304867" y="5982684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Oval 494"/>
          <p:cNvSpPr/>
          <p:nvPr/>
        </p:nvSpPr>
        <p:spPr>
          <a:xfrm>
            <a:off x="11140300" y="5970102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Oval 495"/>
          <p:cNvSpPr/>
          <p:nvPr/>
        </p:nvSpPr>
        <p:spPr>
          <a:xfrm>
            <a:off x="11273701" y="5925422"/>
            <a:ext cx="45720" cy="45720"/>
          </a:xfrm>
          <a:prstGeom prst="ellipse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Oval 496"/>
          <p:cNvSpPr/>
          <p:nvPr/>
        </p:nvSpPr>
        <p:spPr>
          <a:xfrm>
            <a:off x="11118646" y="4937759"/>
            <a:ext cx="54864" cy="54864"/>
          </a:xfrm>
          <a:prstGeom prst="ellipse">
            <a:avLst/>
          </a:prstGeom>
          <a:solidFill>
            <a:srgbClr val="E08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Oval 497"/>
          <p:cNvSpPr/>
          <p:nvPr/>
        </p:nvSpPr>
        <p:spPr>
          <a:xfrm>
            <a:off x="11273180" y="5024627"/>
            <a:ext cx="54864" cy="54864"/>
          </a:xfrm>
          <a:prstGeom prst="ellipse">
            <a:avLst/>
          </a:prstGeom>
          <a:solidFill>
            <a:srgbClr val="E08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Oval 498"/>
          <p:cNvSpPr/>
          <p:nvPr/>
        </p:nvSpPr>
        <p:spPr>
          <a:xfrm>
            <a:off x="10882274" y="4794199"/>
            <a:ext cx="64008" cy="64008"/>
          </a:xfrm>
          <a:prstGeom prst="ellipse">
            <a:avLst/>
          </a:prstGeom>
          <a:solidFill>
            <a:srgbClr val="5B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Oval 499"/>
          <p:cNvSpPr/>
          <p:nvPr/>
        </p:nvSpPr>
        <p:spPr>
          <a:xfrm>
            <a:off x="11005901" y="4898440"/>
            <a:ext cx="64008" cy="64008"/>
          </a:xfrm>
          <a:prstGeom prst="ellipse">
            <a:avLst/>
          </a:prstGeom>
          <a:solidFill>
            <a:srgbClr val="5B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Oval 500"/>
          <p:cNvSpPr/>
          <p:nvPr/>
        </p:nvSpPr>
        <p:spPr>
          <a:xfrm>
            <a:off x="10820460" y="4933188"/>
            <a:ext cx="64008" cy="64008"/>
          </a:xfrm>
          <a:prstGeom prst="ellipse">
            <a:avLst/>
          </a:prstGeom>
          <a:solidFill>
            <a:srgbClr val="5B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TextBox 501"/>
          <p:cNvSpPr txBox="1"/>
          <p:nvPr/>
        </p:nvSpPr>
        <p:spPr>
          <a:xfrm>
            <a:off x="10387584" y="6080759"/>
            <a:ext cx="13624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7F8C8D"/>
                </a:solidFill>
                <a:latin typeface="Calibri"/>
              </a:rPr>
              <a:t>3 rescued, FFR ≤ α</a:t>
            </a:r>
          </a:p>
        </p:txBody>
      </p:sp>
      <p:sp>
        <p:nvSpPr>
          <p:cNvPr id="503" name="Rectangle 502"/>
          <p:cNvSpPr/>
          <p:nvPr/>
        </p:nvSpPr>
        <p:spPr>
          <a:xfrm>
            <a:off x="8430768" y="6437375"/>
            <a:ext cx="118872" cy="118872"/>
          </a:xfrm>
          <a:prstGeom prst="rect">
            <a:avLst/>
          </a:prstGeom>
          <a:solidFill>
            <a:srgbClr val="C7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TextBox 503"/>
          <p:cNvSpPr txBox="1"/>
          <p:nvPr/>
        </p:nvSpPr>
        <p:spPr>
          <a:xfrm>
            <a:off x="8595360" y="6419088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Calibri"/>
              </a:rPr>
              <a:t>majority</a:t>
            </a:r>
          </a:p>
        </p:txBody>
      </p:sp>
      <p:sp>
        <p:nvSpPr>
          <p:cNvPr id="505" name="Rectangle 504"/>
          <p:cNvSpPr/>
          <p:nvPr/>
        </p:nvSpPr>
        <p:spPr>
          <a:xfrm>
            <a:off x="9299448" y="6437375"/>
            <a:ext cx="118872" cy="118872"/>
          </a:xfrm>
          <a:prstGeom prst="rect">
            <a:avLst/>
          </a:prstGeom>
          <a:solidFill>
            <a:srgbClr val="E08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TextBox 505"/>
          <p:cNvSpPr txBox="1"/>
          <p:nvPr/>
        </p:nvSpPr>
        <p:spPr>
          <a:xfrm>
            <a:off x="9464040" y="6419088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Calibri"/>
              </a:rPr>
              <a:t>true rare</a:t>
            </a:r>
          </a:p>
        </p:txBody>
      </p:sp>
      <p:sp>
        <p:nvSpPr>
          <p:cNvPr id="507" name="Rectangle 506"/>
          <p:cNvSpPr/>
          <p:nvPr/>
        </p:nvSpPr>
        <p:spPr>
          <a:xfrm>
            <a:off x="10168128" y="6437375"/>
            <a:ext cx="118872" cy="118872"/>
          </a:xfrm>
          <a:prstGeom prst="rect">
            <a:avLst/>
          </a:prstGeom>
          <a:solidFill>
            <a:srgbClr val="5B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TextBox 507"/>
          <p:cNvSpPr txBox="1"/>
          <p:nvPr/>
        </p:nvSpPr>
        <p:spPr>
          <a:xfrm>
            <a:off x="10332720" y="641908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Calibri"/>
              </a:rPr>
              <a:t>rescued rare</a:t>
            </a:r>
          </a:p>
        </p:txBody>
      </p:sp>
      <p:cxnSp>
        <p:nvCxnSpPr>
          <p:cNvPr id="509" name="Connector 508"/>
          <p:cNvCxnSpPr/>
          <p:nvPr/>
        </p:nvCxnSpPr>
        <p:spPr>
          <a:xfrm>
            <a:off x="4114800" y="3941063"/>
            <a:ext cx="100584" cy="0"/>
          </a:xfrm>
          <a:prstGeom prst="line">
            <a:avLst/>
          </a:prstGeom>
          <a:ln w="1778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" name="Connector 509"/>
          <p:cNvCxnSpPr/>
          <p:nvPr/>
        </p:nvCxnSpPr>
        <p:spPr>
          <a:xfrm>
            <a:off x="8101583" y="3941063"/>
            <a:ext cx="100585" cy="0"/>
          </a:xfrm>
          <a:prstGeom prst="line">
            <a:avLst/>
          </a:prstGeom>
          <a:ln w="1778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1" name="Connector 510"/>
          <p:cNvCxnSpPr/>
          <p:nvPr/>
        </p:nvCxnSpPr>
        <p:spPr>
          <a:xfrm>
            <a:off x="2185416" y="3877055"/>
            <a:ext cx="0" cy="109728"/>
          </a:xfrm>
          <a:prstGeom prst="line">
            <a:avLst/>
          </a:prstGeom>
          <a:ln w="127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" name="Connector 511"/>
          <p:cNvCxnSpPr/>
          <p:nvPr/>
        </p:nvCxnSpPr>
        <p:spPr>
          <a:xfrm>
            <a:off x="6172200" y="3877055"/>
            <a:ext cx="0" cy="109728"/>
          </a:xfrm>
          <a:prstGeom prst="line">
            <a:avLst/>
          </a:prstGeom>
          <a:ln w="127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" name="Connector 512"/>
          <p:cNvCxnSpPr/>
          <p:nvPr/>
        </p:nvCxnSpPr>
        <p:spPr>
          <a:xfrm>
            <a:off x="10158984" y="3877055"/>
            <a:ext cx="0" cy="109728"/>
          </a:xfrm>
          <a:prstGeom prst="line">
            <a:avLst/>
          </a:prstGeom>
          <a:ln w="127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4" name="TextBox 513"/>
          <p:cNvSpPr txBox="1"/>
          <p:nvPr/>
        </p:nvSpPr>
        <p:spPr>
          <a:xfrm>
            <a:off x="274320" y="6926580"/>
            <a:ext cx="1179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7F8C8D"/>
                </a:solidFill>
                <a:latin typeface="Calibri"/>
              </a:rPr>
              <a:t>All gates and thresholds are calibrated on train / validation only; test labels are used solely for final evaluation.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